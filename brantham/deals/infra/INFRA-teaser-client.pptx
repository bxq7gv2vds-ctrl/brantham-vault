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7373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80" b="0" i="0">
                <a:solidFill>
                  <a:srgbClr val="7D7D78"/>
                </a:solidFill>
                <a:latin typeface="Cambria"/>
              </a:rPr>
              <a:t>OPPORTUNITE DE REPRISE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93192"/>
            <a:ext cx="56692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550" b="1" i="0">
                <a:solidFill>
                  <a:srgbClr val="10100F"/>
                </a:solidFill>
                <a:latin typeface="Cambria"/>
              </a:rPr>
              <a:t>Agence de communication et production visuelle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49808"/>
            <a:ext cx="6949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670" b="0" i="0">
                <a:solidFill>
                  <a:srgbClr val="4A4A47"/>
                </a:solidFill>
                <a:latin typeface="Cambria"/>
              </a:rPr>
              <a:t>Marque historique du Grand Est — pres de 50 ans d'existence — procedure collective, statut de cession a confirmer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52360" y="256032"/>
            <a:ext cx="123444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2000"/>
              </a:lnSpc>
              <a:spcAft>
                <a:spcPts val="0"/>
              </a:spcAft>
            </a:pPr>
            <a:r>
              <a:rPr sz="680" b="1" i="0">
                <a:solidFill>
                  <a:srgbClr val="10100F"/>
                </a:solidFill>
                <a:latin typeface="Cambria"/>
              </a:rPr>
              <a:t>Brantham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457200"/>
            <a:ext cx="123444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2000"/>
              </a:lnSpc>
              <a:spcAft>
                <a:spcPts val="0"/>
              </a:spcAft>
            </a:pPr>
            <a:r>
              <a:rPr sz="570" b="0" i="0">
                <a:solidFill>
                  <a:srgbClr val="7D7D78"/>
                </a:solidFill>
                <a:latin typeface="Cambria"/>
              </a:rPr>
              <a:t>pre-NDA confidentiel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987552"/>
            <a:ext cx="8321040" cy="10795"/>
          </a:xfrm>
          <a:prstGeom prst="rect">
            <a:avLst/>
          </a:prstGeom>
          <a:solidFill>
            <a:srgbClr val="10100F"/>
          </a:solidFill>
          <a:ln>
            <a:solidFill>
              <a:srgbClr val="1010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39912" y="6510528"/>
            <a:ext cx="256032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2000"/>
              </a:lnSpc>
              <a:spcAft>
                <a:spcPts val="0"/>
              </a:spcAft>
            </a:pPr>
            <a:r>
              <a:rPr sz="560" b="0" i="0">
                <a:solidFill>
                  <a:srgbClr val="7D7D78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6510528"/>
            <a:ext cx="3840480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40" b="0" i="0">
                <a:solidFill>
                  <a:srgbClr val="7D7D78"/>
                </a:solidFill>
                <a:latin typeface="Cambria"/>
              </a:rPr>
              <a:t>Document confidentiel — diffusion interdite sans accord ecrit prealable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170432"/>
            <a:ext cx="8321040" cy="10795"/>
          </a:xfrm>
          <a:prstGeom prst="rect">
            <a:avLst/>
          </a:prstGeom>
          <a:solidFill>
            <a:srgbClr val="10100F"/>
          </a:solidFill>
          <a:ln>
            <a:solidFill>
              <a:srgbClr val="1010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2011680"/>
            <a:ext cx="8321040" cy="10795"/>
          </a:xfrm>
          <a:prstGeom prst="rect">
            <a:avLst/>
          </a:prstGeom>
          <a:solidFill>
            <a:srgbClr val="10100F"/>
          </a:solidFill>
          <a:ln>
            <a:solidFill>
              <a:srgbClr val="1010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1252728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480" b="0" i="0">
                <a:solidFill>
                  <a:srgbClr val="7D7D78"/>
                </a:solidFill>
                <a:latin typeface="Cambria"/>
              </a:rPr>
              <a:t>ANCIENNETE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1444752"/>
            <a:ext cx="1277111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150" b="1" i="0">
                <a:solidFill>
                  <a:srgbClr val="10100F"/>
                </a:solidFill>
                <a:latin typeface="Cambria"/>
              </a:rPr>
              <a:t>≈50 ans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1737360"/>
            <a:ext cx="1277111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500" b="0" i="0">
                <a:solidFill>
                  <a:srgbClr val="4A4A47"/>
                </a:solidFill>
                <a:latin typeface="Cambria"/>
              </a:rPr>
              <a:t>marque installee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70887" y="1216152"/>
            <a:ext cx="6350" cy="749808"/>
          </a:xfrm>
          <a:prstGeom prst="rect">
            <a:avLst/>
          </a:prstGeom>
          <a:solidFill>
            <a:srgbClr val="B9B8B2"/>
          </a:solidFill>
          <a:ln>
            <a:solidFill>
              <a:srgbClr val="B9B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5752" y="1252728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480" b="0" i="0">
                <a:solidFill>
                  <a:srgbClr val="7D7D78"/>
                </a:solidFill>
                <a:latin typeface="Cambria"/>
              </a:rPr>
              <a:t>CA PIC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5752" y="1444752"/>
            <a:ext cx="1277111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150" b="1" i="0">
                <a:solidFill>
                  <a:srgbClr val="10100F"/>
                </a:solidFill>
                <a:latin typeface="Cambria"/>
              </a:rPr>
              <a:t>3,0 M€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5752" y="1737360"/>
            <a:ext cx="1277111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500" b="0" i="0">
                <a:solidFill>
                  <a:srgbClr val="4A4A47"/>
                </a:solidFill>
                <a:latin typeface="Cambria"/>
              </a:rPr>
              <a:t>2021/22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57728" y="1216152"/>
            <a:ext cx="6350" cy="749808"/>
          </a:xfrm>
          <a:prstGeom prst="rect">
            <a:avLst/>
          </a:prstGeom>
          <a:solidFill>
            <a:srgbClr val="B9B8B2"/>
          </a:solidFill>
          <a:ln>
            <a:solidFill>
              <a:srgbClr val="B9B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12592" y="1252728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480" b="0" i="0">
                <a:solidFill>
                  <a:srgbClr val="7D7D78"/>
                </a:solidFill>
                <a:latin typeface="Cambria"/>
              </a:rPr>
              <a:t>CA DERNIER PLEIN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12592" y="1444752"/>
            <a:ext cx="1277111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150" b="1" i="0">
                <a:solidFill>
                  <a:srgbClr val="10100F"/>
                </a:solidFill>
                <a:latin typeface="Cambria"/>
              </a:rPr>
              <a:t>2,3 M€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12592" y="1737360"/>
            <a:ext cx="1277111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500" b="0" i="0">
                <a:solidFill>
                  <a:srgbClr val="4A4A47"/>
                </a:solidFill>
                <a:latin typeface="Cambria"/>
              </a:rPr>
              <a:t>31/03/2025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44568" y="1216152"/>
            <a:ext cx="6350" cy="749808"/>
          </a:xfrm>
          <a:prstGeom prst="rect">
            <a:avLst/>
          </a:prstGeom>
          <a:solidFill>
            <a:srgbClr val="B9B8B2"/>
          </a:solidFill>
          <a:ln>
            <a:solidFill>
              <a:srgbClr val="B9B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9431" y="1252728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480" b="0" i="0">
                <a:solidFill>
                  <a:srgbClr val="7D7D78"/>
                </a:solidFill>
                <a:latin typeface="Cambria"/>
              </a:rPr>
              <a:t>CA RECENT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9431" y="1444752"/>
            <a:ext cx="1277111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150" b="1" i="0">
                <a:solidFill>
                  <a:srgbClr val="10100F"/>
                </a:solidFill>
                <a:latin typeface="Cambria"/>
              </a:rPr>
              <a:t>1,8 M€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9431" y="1737360"/>
            <a:ext cx="1277111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500" b="0" i="0">
                <a:solidFill>
                  <a:srgbClr val="4A4A47"/>
                </a:solidFill>
                <a:latin typeface="Cambria"/>
              </a:rPr>
              <a:t>annualise 9m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31408" y="1216152"/>
            <a:ext cx="6350" cy="749808"/>
          </a:xfrm>
          <a:prstGeom prst="rect">
            <a:avLst/>
          </a:prstGeom>
          <a:solidFill>
            <a:srgbClr val="B9B8B2"/>
          </a:solidFill>
          <a:ln>
            <a:solidFill>
              <a:srgbClr val="B9B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86271" y="1252728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480" b="0" i="0">
                <a:solidFill>
                  <a:srgbClr val="7D7D78"/>
                </a:solidFill>
                <a:latin typeface="Cambria"/>
              </a:rPr>
              <a:t>EFFECTIF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6271" y="1444752"/>
            <a:ext cx="1277111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150" b="1" i="0">
                <a:solidFill>
                  <a:srgbClr val="10100F"/>
                </a:solidFill>
                <a:latin typeface="Cambria"/>
              </a:rPr>
              <a:t>18-19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6271" y="1737360"/>
            <a:ext cx="1277111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500" b="0" i="0">
                <a:solidFill>
                  <a:srgbClr val="4A4A47"/>
                </a:solidFill>
                <a:latin typeface="Cambria"/>
              </a:rPr>
              <a:t>salaries actuels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8248" y="1216152"/>
            <a:ext cx="6350" cy="749808"/>
          </a:xfrm>
          <a:prstGeom prst="rect">
            <a:avLst/>
          </a:prstGeom>
          <a:solidFill>
            <a:srgbClr val="B9B8B2"/>
          </a:solidFill>
          <a:ln>
            <a:solidFill>
              <a:srgbClr val="B9B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73112" y="1252728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480" b="0" i="0">
                <a:solidFill>
                  <a:srgbClr val="7D7D78"/>
                </a:solidFill>
                <a:latin typeface="Cambria"/>
              </a:rPr>
              <a:t>POINT MORT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73112" y="1444752"/>
            <a:ext cx="1277111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150" b="1" i="0">
                <a:solidFill>
                  <a:srgbClr val="10100F"/>
                </a:solidFill>
                <a:latin typeface="Cambria"/>
              </a:rPr>
              <a:t>2,4-2,6 M€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73112" y="1737360"/>
            <a:ext cx="1277111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500" b="0" i="0">
                <a:solidFill>
                  <a:srgbClr val="4A4A47"/>
                </a:solidFill>
                <a:latin typeface="Cambria"/>
              </a:rPr>
              <a:t>CA estime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" y="2212848"/>
            <a:ext cx="17373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70" b="1" i="0">
                <a:solidFill>
                  <a:srgbClr val="7D7D78"/>
                </a:solidFill>
                <a:latin typeface="Cambria"/>
              </a:rPr>
              <a:t>TRAJECTOIRE FINANCIERE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4048" y="2423160"/>
            <a:ext cx="4654296" cy="23317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84048" y="2423160"/>
            <a:ext cx="4654296" cy="11430"/>
          </a:xfrm>
          <a:prstGeom prst="rect">
            <a:avLst/>
          </a:prstGeom>
          <a:solidFill>
            <a:srgbClr val="10100F"/>
          </a:solidFill>
          <a:ln>
            <a:solidFill>
              <a:srgbClr val="1010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84048" y="2656332"/>
            <a:ext cx="4654296" cy="7620"/>
          </a:xfrm>
          <a:prstGeom prst="rect">
            <a:avLst/>
          </a:prstGeom>
          <a:solidFill>
            <a:srgbClr val="B9B8B2"/>
          </a:solidFill>
          <a:ln>
            <a:solidFill>
              <a:srgbClr val="B9B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79" y="2478024"/>
            <a:ext cx="996695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20" b="1" i="0">
                <a:solidFill>
                  <a:srgbClr val="10100F"/>
                </a:solidFill>
                <a:latin typeface="Cambria"/>
              </a:rPr>
              <a:t>K€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63039" y="2478024"/>
            <a:ext cx="640080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20" b="1" i="0">
                <a:solidFill>
                  <a:srgbClr val="10100F"/>
                </a:solidFill>
                <a:latin typeface="Cambria"/>
              </a:rPr>
              <a:t>03/22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57984" y="2478024"/>
            <a:ext cx="640080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20" b="1" i="0">
                <a:solidFill>
                  <a:srgbClr val="10100F"/>
                </a:solidFill>
                <a:latin typeface="Cambria"/>
              </a:rPr>
              <a:t>03/23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52927" y="2478024"/>
            <a:ext cx="640080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20" b="1" i="0">
                <a:solidFill>
                  <a:srgbClr val="10100F"/>
                </a:solidFill>
                <a:latin typeface="Cambria"/>
              </a:rPr>
              <a:t>03/24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47871" y="2478024"/>
            <a:ext cx="640080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20" b="1" i="0">
                <a:solidFill>
                  <a:srgbClr val="10100F"/>
                </a:solidFill>
                <a:latin typeface="Cambria"/>
              </a:rPr>
              <a:t>03/25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42816" y="2478024"/>
            <a:ext cx="76809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20" b="1" i="0">
                <a:solidFill>
                  <a:srgbClr val="10100F"/>
                </a:solidFill>
                <a:latin typeface="Cambria"/>
              </a:rPr>
              <a:t>12/25 9m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79" y="2706624"/>
            <a:ext cx="996695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25" b="0" i="0">
                <a:solidFill>
                  <a:srgbClr val="10100F"/>
                </a:solidFill>
                <a:latin typeface="Cambria"/>
              </a:rPr>
              <a:t>CA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63039" y="2706624"/>
            <a:ext cx="640080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2000"/>
              </a:lnSpc>
              <a:spcAft>
                <a:spcPts val="0"/>
              </a:spcAft>
            </a:pPr>
            <a:r>
              <a:rPr sz="525" b="0" i="0">
                <a:solidFill>
                  <a:srgbClr val="10100F"/>
                </a:solidFill>
                <a:latin typeface="Cambria"/>
              </a:rPr>
              <a:t>2 993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57984" y="2706624"/>
            <a:ext cx="640080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2000"/>
              </a:lnSpc>
              <a:spcAft>
                <a:spcPts val="0"/>
              </a:spcAft>
            </a:pPr>
            <a:r>
              <a:rPr sz="525" b="0" i="0">
                <a:solidFill>
                  <a:srgbClr val="10100F"/>
                </a:solidFill>
                <a:latin typeface="Cambria"/>
              </a:rPr>
              <a:t>2 427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52927" y="2706624"/>
            <a:ext cx="640080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2000"/>
              </a:lnSpc>
              <a:spcAft>
                <a:spcPts val="0"/>
              </a:spcAft>
            </a:pPr>
            <a:r>
              <a:rPr sz="525" b="0" i="0">
                <a:solidFill>
                  <a:srgbClr val="10100F"/>
                </a:solidFill>
                <a:latin typeface="Cambria"/>
              </a:rPr>
              <a:t>2 216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47871" y="2706624"/>
            <a:ext cx="640080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2000"/>
              </a:lnSpc>
              <a:spcAft>
                <a:spcPts val="0"/>
              </a:spcAft>
            </a:pPr>
            <a:r>
              <a:rPr sz="525" b="0" i="0">
                <a:solidFill>
                  <a:srgbClr val="10100F"/>
                </a:solidFill>
                <a:latin typeface="Cambria"/>
              </a:rPr>
              <a:t>2 312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42816" y="2706624"/>
            <a:ext cx="76809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2000"/>
              </a:lnSpc>
              <a:spcAft>
                <a:spcPts val="0"/>
              </a:spcAft>
            </a:pPr>
            <a:r>
              <a:rPr sz="525" b="0" i="0">
                <a:solidFill>
                  <a:srgbClr val="10100F"/>
                </a:solidFill>
                <a:latin typeface="Cambria"/>
              </a:rPr>
              <a:t>1 357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84048" y="2889503"/>
            <a:ext cx="4654296" cy="4445"/>
          </a:xfrm>
          <a:prstGeom prst="rect">
            <a:avLst/>
          </a:prstGeom>
          <a:solidFill>
            <a:srgbClr val="B9B8B2"/>
          </a:solidFill>
          <a:ln>
            <a:solidFill>
              <a:srgbClr val="B9B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84048" y="2889503"/>
            <a:ext cx="4654296" cy="233172"/>
          </a:xfrm>
          <a:prstGeom prst="rect">
            <a:avLst/>
          </a:prstGeom>
          <a:solidFill>
            <a:srgbClr val="F6F5F2"/>
          </a:solidFill>
          <a:ln>
            <a:solidFill>
              <a:srgbClr val="F6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1479" y="2939796"/>
            <a:ext cx="996695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25" b="0" i="0">
                <a:solidFill>
                  <a:srgbClr val="10100F"/>
                </a:solidFill>
                <a:latin typeface="Cambria"/>
              </a:rPr>
              <a:t>Marge brute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463039" y="2939796"/>
            <a:ext cx="640080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2000"/>
              </a:lnSpc>
              <a:spcAft>
                <a:spcPts val="0"/>
              </a:spcAft>
            </a:pPr>
            <a:r>
              <a:rPr sz="525" b="0" i="0">
                <a:solidFill>
                  <a:srgbClr val="10100F"/>
                </a:solidFill>
                <a:latin typeface="Cambria"/>
              </a:rPr>
              <a:t>2 208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57984" y="2939796"/>
            <a:ext cx="640080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2000"/>
              </a:lnSpc>
              <a:spcAft>
                <a:spcPts val="0"/>
              </a:spcAft>
            </a:pPr>
            <a:r>
              <a:rPr sz="525" b="0" i="0">
                <a:solidFill>
                  <a:srgbClr val="10100F"/>
                </a:solidFill>
                <a:latin typeface="Cambria"/>
              </a:rPr>
              <a:t>1 854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52927" y="2939796"/>
            <a:ext cx="640080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2000"/>
              </a:lnSpc>
              <a:spcAft>
                <a:spcPts val="0"/>
              </a:spcAft>
            </a:pPr>
            <a:r>
              <a:rPr sz="525" b="0" i="0">
                <a:solidFill>
                  <a:srgbClr val="10100F"/>
                </a:solidFill>
                <a:latin typeface="Cambria"/>
              </a:rPr>
              <a:t>1 738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47871" y="2939796"/>
            <a:ext cx="640080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2000"/>
              </a:lnSpc>
              <a:spcAft>
                <a:spcPts val="0"/>
              </a:spcAft>
            </a:pPr>
            <a:r>
              <a:rPr sz="525" b="0" i="0">
                <a:solidFill>
                  <a:srgbClr val="10100F"/>
                </a:solidFill>
                <a:latin typeface="Cambria"/>
              </a:rPr>
              <a:t>1 718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42816" y="2939796"/>
            <a:ext cx="76809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2000"/>
              </a:lnSpc>
              <a:spcAft>
                <a:spcPts val="0"/>
              </a:spcAft>
            </a:pPr>
            <a:r>
              <a:rPr sz="525" b="0" i="0">
                <a:solidFill>
                  <a:srgbClr val="10100F"/>
                </a:solidFill>
                <a:latin typeface="Cambria"/>
              </a:rPr>
              <a:t>1 043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84048" y="3122675"/>
            <a:ext cx="4654296" cy="4445"/>
          </a:xfrm>
          <a:prstGeom prst="rect">
            <a:avLst/>
          </a:prstGeom>
          <a:solidFill>
            <a:srgbClr val="B9B8B2"/>
          </a:solidFill>
          <a:ln>
            <a:solidFill>
              <a:srgbClr val="B9B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79" y="3172968"/>
            <a:ext cx="996695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25" b="0" i="0">
                <a:solidFill>
                  <a:srgbClr val="10100F"/>
                </a:solidFill>
                <a:latin typeface="Cambria"/>
              </a:rPr>
              <a:t>Marge brute 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463039" y="3172968"/>
            <a:ext cx="640080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2000"/>
              </a:lnSpc>
              <a:spcAft>
                <a:spcPts val="0"/>
              </a:spcAft>
            </a:pPr>
            <a:r>
              <a:rPr sz="525" b="0" i="0">
                <a:solidFill>
                  <a:srgbClr val="10100F"/>
                </a:solidFill>
                <a:latin typeface="Cambria"/>
              </a:rPr>
              <a:t>73,8%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157984" y="3172968"/>
            <a:ext cx="640080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2000"/>
              </a:lnSpc>
              <a:spcAft>
                <a:spcPts val="0"/>
              </a:spcAft>
            </a:pPr>
            <a:r>
              <a:rPr sz="525" b="0" i="0">
                <a:solidFill>
                  <a:srgbClr val="10100F"/>
                </a:solidFill>
                <a:latin typeface="Cambria"/>
              </a:rPr>
              <a:t>76,4%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852927" y="3172968"/>
            <a:ext cx="640080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2000"/>
              </a:lnSpc>
              <a:spcAft>
                <a:spcPts val="0"/>
              </a:spcAft>
            </a:pPr>
            <a:r>
              <a:rPr sz="525" b="0" i="0">
                <a:solidFill>
                  <a:srgbClr val="10100F"/>
                </a:solidFill>
                <a:latin typeface="Cambria"/>
              </a:rPr>
              <a:t>78,4%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547871" y="3172968"/>
            <a:ext cx="640080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2000"/>
              </a:lnSpc>
              <a:spcAft>
                <a:spcPts val="0"/>
              </a:spcAft>
            </a:pPr>
            <a:r>
              <a:rPr sz="525" b="0" i="0">
                <a:solidFill>
                  <a:srgbClr val="10100F"/>
                </a:solidFill>
                <a:latin typeface="Cambria"/>
              </a:rPr>
              <a:t>74,3%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42816" y="3172968"/>
            <a:ext cx="76809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2000"/>
              </a:lnSpc>
              <a:spcAft>
                <a:spcPts val="0"/>
              </a:spcAft>
            </a:pPr>
            <a:r>
              <a:rPr sz="525" b="0" i="0">
                <a:solidFill>
                  <a:srgbClr val="10100F"/>
                </a:solidFill>
                <a:latin typeface="Cambria"/>
              </a:rPr>
              <a:t>76,9%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84048" y="3355847"/>
            <a:ext cx="4654296" cy="4445"/>
          </a:xfrm>
          <a:prstGeom prst="rect">
            <a:avLst/>
          </a:prstGeom>
          <a:solidFill>
            <a:srgbClr val="B9B8B2"/>
          </a:solidFill>
          <a:ln>
            <a:solidFill>
              <a:srgbClr val="B9B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84048" y="3355847"/>
            <a:ext cx="4654296" cy="233172"/>
          </a:xfrm>
          <a:prstGeom prst="rect">
            <a:avLst/>
          </a:prstGeom>
          <a:solidFill>
            <a:srgbClr val="F6F5F2"/>
          </a:solidFill>
          <a:ln>
            <a:solidFill>
              <a:srgbClr val="F6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11479" y="3406139"/>
            <a:ext cx="996695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25" b="0" i="0">
                <a:solidFill>
                  <a:srgbClr val="10100F"/>
                </a:solidFill>
                <a:latin typeface="Cambria"/>
              </a:rPr>
              <a:t>Salaires + charges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463039" y="3406139"/>
            <a:ext cx="640080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2000"/>
              </a:lnSpc>
              <a:spcAft>
                <a:spcPts val="0"/>
              </a:spcAft>
            </a:pPr>
            <a:r>
              <a:rPr sz="525" b="0" i="0">
                <a:solidFill>
                  <a:srgbClr val="10100F"/>
                </a:solidFill>
                <a:latin typeface="Cambria"/>
              </a:rPr>
              <a:t>1 137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157984" y="3406139"/>
            <a:ext cx="640080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2000"/>
              </a:lnSpc>
              <a:spcAft>
                <a:spcPts val="0"/>
              </a:spcAft>
            </a:pPr>
            <a:r>
              <a:rPr sz="525" b="0" i="0">
                <a:solidFill>
                  <a:srgbClr val="10100F"/>
                </a:solidFill>
                <a:latin typeface="Cambria"/>
              </a:rPr>
              <a:t>1 064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852927" y="3406139"/>
            <a:ext cx="640080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2000"/>
              </a:lnSpc>
              <a:spcAft>
                <a:spcPts val="0"/>
              </a:spcAft>
            </a:pPr>
            <a:r>
              <a:rPr sz="525" b="0" i="0">
                <a:solidFill>
                  <a:srgbClr val="10100F"/>
                </a:solidFill>
                <a:latin typeface="Cambria"/>
              </a:rPr>
              <a:t>961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547871" y="3406139"/>
            <a:ext cx="640080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2000"/>
              </a:lnSpc>
              <a:spcAft>
                <a:spcPts val="0"/>
              </a:spcAft>
            </a:pPr>
            <a:r>
              <a:rPr sz="525" b="0" i="0">
                <a:solidFill>
                  <a:srgbClr val="10100F"/>
                </a:solidFill>
                <a:latin typeface="Cambria"/>
              </a:rPr>
              <a:t>972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242816" y="3406139"/>
            <a:ext cx="76809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2000"/>
              </a:lnSpc>
              <a:spcAft>
                <a:spcPts val="0"/>
              </a:spcAft>
            </a:pPr>
            <a:r>
              <a:rPr sz="525" b="0" i="0">
                <a:solidFill>
                  <a:srgbClr val="10100F"/>
                </a:solidFill>
                <a:latin typeface="Cambria"/>
              </a:rPr>
              <a:t>820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84048" y="3589019"/>
            <a:ext cx="4654296" cy="4445"/>
          </a:xfrm>
          <a:prstGeom prst="rect">
            <a:avLst/>
          </a:prstGeom>
          <a:solidFill>
            <a:srgbClr val="B9B8B2"/>
          </a:solidFill>
          <a:ln>
            <a:solidFill>
              <a:srgbClr val="B9B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11479" y="3639311"/>
            <a:ext cx="996695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25" b="0" i="0">
                <a:solidFill>
                  <a:srgbClr val="10100F"/>
                </a:solidFill>
                <a:latin typeface="Cambria"/>
              </a:rPr>
              <a:t>EBE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463039" y="3639311"/>
            <a:ext cx="640080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2000"/>
              </a:lnSpc>
              <a:spcAft>
                <a:spcPts val="0"/>
              </a:spcAft>
            </a:pPr>
            <a:r>
              <a:rPr sz="525" b="0" i="0">
                <a:solidFill>
                  <a:srgbClr val="10100F"/>
                </a:solidFill>
                <a:latin typeface="Cambria"/>
              </a:rPr>
              <a:t>+227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157984" y="3639311"/>
            <a:ext cx="640080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2000"/>
              </a:lnSpc>
              <a:spcAft>
                <a:spcPts val="0"/>
              </a:spcAft>
            </a:pPr>
            <a:r>
              <a:rPr sz="525" b="0" i="0">
                <a:solidFill>
                  <a:srgbClr val="10100F"/>
                </a:solidFill>
                <a:latin typeface="Cambria"/>
              </a:rPr>
              <a:t>+36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852927" y="3639311"/>
            <a:ext cx="640080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2000"/>
              </a:lnSpc>
              <a:spcAft>
                <a:spcPts val="0"/>
              </a:spcAft>
            </a:pPr>
            <a:r>
              <a:rPr sz="525" b="0" i="0">
                <a:solidFill>
                  <a:srgbClr val="10100F"/>
                </a:solidFill>
                <a:latin typeface="Cambria"/>
              </a:rPr>
              <a:t>+22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547871" y="3639311"/>
            <a:ext cx="640080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2000"/>
              </a:lnSpc>
              <a:spcAft>
                <a:spcPts val="0"/>
              </a:spcAft>
            </a:pPr>
            <a:r>
              <a:rPr sz="525" b="0" i="0">
                <a:solidFill>
                  <a:srgbClr val="10100F"/>
                </a:solidFill>
                <a:latin typeface="Cambria"/>
              </a:rPr>
              <a:t>+79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242816" y="3639311"/>
            <a:ext cx="76809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2000"/>
              </a:lnSpc>
              <a:spcAft>
                <a:spcPts val="0"/>
              </a:spcAft>
            </a:pPr>
            <a:r>
              <a:rPr sz="525" b="0" i="0">
                <a:solidFill>
                  <a:srgbClr val="10100F"/>
                </a:solidFill>
                <a:latin typeface="Cambria"/>
              </a:rPr>
              <a:t>-284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84048" y="3822191"/>
            <a:ext cx="4654296" cy="4445"/>
          </a:xfrm>
          <a:prstGeom prst="rect">
            <a:avLst/>
          </a:prstGeom>
          <a:solidFill>
            <a:srgbClr val="B9B8B2"/>
          </a:solidFill>
          <a:ln>
            <a:solidFill>
              <a:srgbClr val="B9B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84048" y="3822191"/>
            <a:ext cx="4654296" cy="233172"/>
          </a:xfrm>
          <a:prstGeom prst="rect">
            <a:avLst/>
          </a:prstGeom>
          <a:solidFill>
            <a:srgbClr val="F6F5F2"/>
          </a:solidFill>
          <a:ln>
            <a:solidFill>
              <a:srgbClr val="F6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11479" y="3872483"/>
            <a:ext cx="996695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25" b="0" i="0">
                <a:solidFill>
                  <a:srgbClr val="10100F"/>
                </a:solidFill>
                <a:latin typeface="Cambria"/>
              </a:rPr>
              <a:t>Resultat net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463039" y="3872483"/>
            <a:ext cx="640080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2000"/>
              </a:lnSpc>
              <a:spcAft>
                <a:spcPts val="0"/>
              </a:spcAft>
            </a:pPr>
            <a:r>
              <a:rPr sz="525" b="0" i="0">
                <a:solidFill>
                  <a:srgbClr val="10100F"/>
                </a:solidFill>
                <a:latin typeface="Cambria"/>
              </a:rPr>
              <a:t>+97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157984" y="3872483"/>
            <a:ext cx="640080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2000"/>
              </a:lnSpc>
              <a:spcAft>
                <a:spcPts val="0"/>
              </a:spcAft>
            </a:pPr>
            <a:r>
              <a:rPr sz="525" b="0" i="0">
                <a:solidFill>
                  <a:srgbClr val="10100F"/>
                </a:solidFill>
                <a:latin typeface="Cambria"/>
              </a:rPr>
              <a:t>-77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852927" y="3872483"/>
            <a:ext cx="640080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2000"/>
              </a:lnSpc>
              <a:spcAft>
                <a:spcPts val="0"/>
              </a:spcAft>
            </a:pPr>
            <a:r>
              <a:rPr sz="525" b="0" i="0">
                <a:solidFill>
                  <a:srgbClr val="10100F"/>
                </a:solidFill>
                <a:latin typeface="Cambria"/>
              </a:rPr>
              <a:t>-73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547871" y="3872483"/>
            <a:ext cx="640080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2000"/>
              </a:lnSpc>
              <a:spcAft>
                <a:spcPts val="0"/>
              </a:spcAft>
            </a:pPr>
            <a:r>
              <a:rPr sz="525" b="0" i="0">
                <a:solidFill>
                  <a:srgbClr val="10100F"/>
                </a:solidFill>
                <a:latin typeface="Cambria"/>
              </a:rPr>
              <a:t>-1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242816" y="3872483"/>
            <a:ext cx="76809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2000"/>
              </a:lnSpc>
              <a:spcAft>
                <a:spcPts val="0"/>
              </a:spcAft>
            </a:pPr>
            <a:r>
              <a:rPr sz="525" b="0" i="0">
                <a:solidFill>
                  <a:srgbClr val="10100F"/>
                </a:solidFill>
                <a:latin typeface="Cambria"/>
              </a:rPr>
              <a:t>-345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84048" y="4055363"/>
            <a:ext cx="4654296" cy="4445"/>
          </a:xfrm>
          <a:prstGeom prst="rect">
            <a:avLst/>
          </a:prstGeom>
          <a:solidFill>
            <a:srgbClr val="B9B8B2"/>
          </a:solidFill>
          <a:ln>
            <a:solidFill>
              <a:srgbClr val="B9B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84048" y="4055363"/>
            <a:ext cx="4654296" cy="10160"/>
          </a:xfrm>
          <a:prstGeom prst="rect">
            <a:avLst/>
          </a:prstGeom>
          <a:solidFill>
            <a:srgbClr val="10100F"/>
          </a:solidFill>
          <a:ln>
            <a:solidFill>
              <a:srgbClr val="1010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257800" y="2377440"/>
            <a:ext cx="3447288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100"/>
              </a:spcAft>
            </a:pPr>
            <a:r>
              <a:rPr sz="625" b="1" i="0">
                <a:solidFill>
                  <a:srgbClr val="10100F"/>
                </a:solidFill>
                <a:latin typeface="Cambria"/>
              </a:rPr>
              <a:t>Lecture.</a:t>
            </a:r>
            <a:r>
              <a:rPr sz="625" b="0" i="0">
                <a:solidFill>
                  <a:srgbClr val="10100F"/>
                </a:solidFill>
                <a:latin typeface="Cambria"/>
              </a:rPr>
              <a:t> Le CA recent annualise ressort autour de 1,8 M€, soit environ -22% vs dernier exercice plein et environ -40% vs le pic recent.</a:t>
            </a:r>
          </a:p>
          <a:p>
            <a:pPr>
              <a:lnSpc>
                <a:spcPct val="102000"/>
              </a:lnSpc>
              <a:spcAft>
                <a:spcPts val="100"/>
              </a:spcAft>
            </a:pPr>
            <a:r>
              <a:rPr sz="625" b="1" i="0">
                <a:solidFill>
                  <a:srgbClr val="10100F"/>
                </a:solidFill>
                <a:latin typeface="Cambria"/>
              </a:rPr>
              <a:t>Marge preservee.</a:t>
            </a:r>
            <a:r>
              <a:rPr sz="625" b="0" i="0">
                <a:solidFill>
                  <a:srgbClr val="10100F"/>
                </a:solidFill>
                <a:latin typeface="Cambria"/>
              </a:rPr>
              <a:t> La marge brute reste proche de 75-77% : le probleme n'est pas le mix vendu, mais le volume face aux couts fixes.</a:t>
            </a:r>
          </a:p>
          <a:p>
            <a:pPr>
              <a:lnSpc>
                <a:spcPct val="102000"/>
              </a:lnSpc>
              <a:spcAft>
                <a:spcPts val="100"/>
              </a:spcAft>
            </a:pPr>
            <a:r>
              <a:rPr sz="625" b="1" i="0">
                <a:solidFill>
                  <a:srgbClr val="10100F"/>
                </a:solidFill>
                <a:latin typeface="Cambria"/>
              </a:rPr>
              <a:t>Point mort.</a:t>
            </a:r>
            <a:r>
              <a:rPr sz="625" b="0" i="0">
                <a:solidFill>
                  <a:srgbClr val="10100F"/>
                </a:solidFill>
                <a:latin typeface="Cambria"/>
              </a:rPr>
              <a:t> Le seuil EBE est estime a 2,4-2,6 M€ de CA : l'agence est 600-800 K€ sous son niveau d'equilibre.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84048" y="4315968"/>
            <a:ext cx="16002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70" b="1" i="0">
                <a:solidFill>
                  <a:srgbClr val="7D7D78"/>
                </a:solidFill>
                <a:latin typeface="Cambria"/>
              </a:rPr>
              <a:t>CAUSES DCP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84048" y="4526280"/>
            <a:ext cx="5715000" cy="23317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384048" y="4526280"/>
            <a:ext cx="5715000" cy="11430"/>
          </a:xfrm>
          <a:prstGeom prst="rect">
            <a:avLst/>
          </a:prstGeom>
          <a:solidFill>
            <a:srgbClr val="10100F"/>
          </a:solidFill>
          <a:ln>
            <a:solidFill>
              <a:srgbClr val="1010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384048" y="4759452"/>
            <a:ext cx="5715000" cy="7620"/>
          </a:xfrm>
          <a:prstGeom prst="rect">
            <a:avLst/>
          </a:prstGeom>
          <a:solidFill>
            <a:srgbClr val="B9B8B2"/>
          </a:solidFill>
          <a:ln>
            <a:solidFill>
              <a:srgbClr val="B9B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11479" y="4581144"/>
            <a:ext cx="127101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05" b="1" i="0">
                <a:solidFill>
                  <a:srgbClr val="10100F"/>
                </a:solidFill>
                <a:latin typeface="Cambria"/>
              </a:rPr>
              <a:t>Cause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737360" y="4581144"/>
            <a:ext cx="218541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05" b="1" i="0">
                <a:solidFill>
                  <a:srgbClr val="10100F"/>
                </a:solidFill>
                <a:latin typeface="Cambria"/>
              </a:rPr>
              <a:t>Fait constate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977640" y="4581144"/>
            <a:ext cx="209397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05" b="1" i="0">
                <a:solidFill>
                  <a:srgbClr val="10100F"/>
                </a:solidFill>
                <a:latin typeface="Cambria"/>
              </a:rPr>
              <a:t>Impact economique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11479" y="4809744"/>
            <a:ext cx="127101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05" b="0" i="0">
                <a:solidFill>
                  <a:srgbClr val="10100F"/>
                </a:solidFill>
                <a:latin typeface="Cambria"/>
              </a:rPr>
              <a:t>Dette LBO INTRA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737360" y="4809744"/>
            <a:ext cx="218541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05" b="0" i="0">
                <a:solidFill>
                  <a:srgbClr val="10100F"/>
                </a:solidFill>
                <a:latin typeface="Cambria"/>
              </a:rPr>
              <a:t>Rachat 2016 via holding INTRA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977640" y="4809744"/>
            <a:ext cx="209397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05" b="0" i="0">
                <a:solidFill>
                  <a:srgbClr val="10100F"/>
                </a:solidFill>
                <a:latin typeface="Cambria"/>
              </a:rPr>
              <a:t>Remontees de cash / stress financier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84048" y="4992624"/>
            <a:ext cx="5715000" cy="4445"/>
          </a:xfrm>
          <a:prstGeom prst="rect">
            <a:avLst/>
          </a:prstGeom>
          <a:solidFill>
            <a:srgbClr val="B9B8B2"/>
          </a:solidFill>
          <a:ln>
            <a:solidFill>
              <a:srgbClr val="B9B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384048" y="4992624"/>
            <a:ext cx="5715000" cy="233172"/>
          </a:xfrm>
          <a:prstGeom prst="rect">
            <a:avLst/>
          </a:prstGeom>
          <a:solidFill>
            <a:srgbClr val="F6F5F2"/>
          </a:solidFill>
          <a:ln>
            <a:solidFill>
              <a:srgbClr val="F6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11479" y="5042916"/>
            <a:ext cx="127101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05" b="0" i="0">
                <a:solidFill>
                  <a:srgbClr val="10100F"/>
                </a:solidFill>
                <a:latin typeface="Cambria"/>
              </a:rPr>
              <a:t>Conjoncture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737360" y="5042916"/>
            <a:ext cx="218541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05" b="0" i="0">
                <a:solidFill>
                  <a:srgbClr val="10100F"/>
                </a:solidFill>
                <a:latin typeface="Cambria"/>
              </a:rPr>
              <a:t>Budgets communication coupes en priorite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977640" y="5042916"/>
            <a:ext cx="209397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05" b="0" i="0">
                <a:solidFill>
                  <a:srgbClr val="10100F"/>
                </a:solidFill>
                <a:latin typeface="Cambria"/>
              </a:rPr>
              <a:t>CA en contraction, decisions clients allongees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84048" y="5225796"/>
            <a:ext cx="5715000" cy="4445"/>
          </a:xfrm>
          <a:prstGeom prst="rect">
            <a:avLst/>
          </a:prstGeom>
          <a:solidFill>
            <a:srgbClr val="B9B8B2"/>
          </a:solidFill>
          <a:ln>
            <a:solidFill>
              <a:srgbClr val="B9B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11479" y="5276088"/>
            <a:ext cx="127101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05" b="0" i="0">
                <a:solidFill>
                  <a:srgbClr val="10100F"/>
                </a:solidFill>
                <a:latin typeface="Cambria"/>
              </a:rPr>
              <a:t>Choc IA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737360" y="5276088"/>
            <a:ext cx="218541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05" b="0" i="0">
                <a:solidFill>
                  <a:srgbClr val="10100F"/>
                </a:solidFill>
                <a:latin typeface="Cambria"/>
              </a:rPr>
              <a:t>Clients persuades de produire eux-memes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977640" y="5276088"/>
            <a:ext cx="209397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05" b="0" i="0">
                <a:solidFill>
                  <a:srgbClr val="10100F"/>
                </a:solidFill>
                <a:latin typeface="Cambria"/>
              </a:rPr>
              <a:t>Pression sur prestations simples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84048" y="5458968"/>
            <a:ext cx="5715000" cy="4445"/>
          </a:xfrm>
          <a:prstGeom prst="rect">
            <a:avLst/>
          </a:prstGeom>
          <a:solidFill>
            <a:srgbClr val="B9B8B2"/>
          </a:solidFill>
          <a:ln>
            <a:solidFill>
              <a:srgbClr val="B9B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384048" y="5458968"/>
            <a:ext cx="5715000" cy="233172"/>
          </a:xfrm>
          <a:prstGeom prst="rect">
            <a:avLst/>
          </a:prstGeom>
          <a:solidFill>
            <a:srgbClr val="F6F5F2"/>
          </a:solidFill>
          <a:ln>
            <a:solidFill>
              <a:srgbClr val="F6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11479" y="5509259"/>
            <a:ext cx="127101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05" b="0" i="0">
                <a:solidFill>
                  <a:srgbClr val="10100F"/>
                </a:solidFill>
                <a:latin typeface="Cambria"/>
              </a:rPr>
              <a:t>Absence commerciale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737360" y="5509259"/>
            <a:ext cx="218541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05" b="0" i="0">
                <a:solidFill>
                  <a:srgbClr val="10100F"/>
                </a:solidFill>
                <a:latin typeface="Cambria"/>
              </a:rPr>
              <a:t>Dirigeante commerciale absente &gt; 1 an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977640" y="5509259"/>
            <a:ext cx="209397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05" b="0" i="0">
                <a:solidFill>
                  <a:srgbClr val="10100F"/>
                </a:solidFill>
                <a:latin typeface="Cambria"/>
              </a:rPr>
              <a:t>Pipeline affaibli, traction commerciale perdue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384048" y="5692140"/>
            <a:ext cx="5715000" cy="4445"/>
          </a:xfrm>
          <a:prstGeom prst="rect">
            <a:avLst/>
          </a:prstGeom>
          <a:solidFill>
            <a:srgbClr val="B9B8B2"/>
          </a:solidFill>
          <a:ln>
            <a:solidFill>
              <a:srgbClr val="B9B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411479" y="5742431"/>
            <a:ext cx="127101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05" b="0" i="0">
                <a:solidFill>
                  <a:srgbClr val="10100F"/>
                </a:solidFill>
                <a:latin typeface="Cambria"/>
              </a:rPr>
              <a:t>Couts fixes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737360" y="5742431"/>
            <a:ext cx="218541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05" b="0" i="0">
                <a:solidFill>
                  <a:srgbClr val="10100F"/>
                </a:solidFill>
                <a:latin typeface="Cambria"/>
              </a:rPr>
              <a:t>Masse salariale inerte face au CA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977640" y="5742431"/>
            <a:ext cx="209397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05" b="0" i="0">
                <a:solidFill>
                  <a:srgbClr val="10100F"/>
                </a:solidFill>
                <a:latin typeface="Cambria"/>
              </a:rPr>
              <a:t>EBE negatif malgre marge brute correcte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84048" y="5925312"/>
            <a:ext cx="5715000" cy="4445"/>
          </a:xfrm>
          <a:prstGeom prst="rect">
            <a:avLst/>
          </a:prstGeom>
          <a:solidFill>
            <a:srgbClr val="B9B8B2"/>
          </a:solidFill>
          <a:ln>
            <a:solidFill>
              <a:srgbClr val="B9B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84048" y="5925312"/>
            <a:ext cx="5715000" cy="233172"/>
          </a:xfrm>
          <a:prstGeom prst="rect">
            <a:avLst/>
          </a:prstGeom>
          <a:solidFill>
            <a:srgbClr val="F6F5F2"/>
          </a:solidFill>
          <a:ln>
            <a:solidFill>
              <a:srgbClr val="F6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411479" y="5975603"/>
            <a:ext cx="127101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05" b="0" i="0">
                <a:solidFill>
                  <a:srgbClr val="10100F"/>
                </a:solidFill>
                <a:latin typeface="Cambria"/>
              </a:rPr>
              <a:t>Tresorerie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737360" y="5975603"/>
            <a:ext cx="218541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05" b="0" i="0">
                <a:solidFill>
                  <a:srgbClr val="10100F"/>
                </a:solidFill>
                <a:latin typeface="Cambria"/>
              </a:rPr>
              <a:t>VMP consommees, cash proche zero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977640" y="5975603"/>
            <a:ext cx="209397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05" b="0" i="0">
                <a:solidFill>
                  <a:srgbClr val="10100F"/>
                </a:solidFill>
                <a:latin typeface="Cambria"/>
              </a:rPr>
              <a:t>Sauvegarde avant cessation complete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84048" y="6158483"/>
            <a:ext cx="5715000" cy="4445"/>
          </a:xfrm>
          <a:prstGeom prst="rect">
            <a:avLst/>
          </a:prstGeom>
          <a:solidFill>
            <a:srgbClr val="B9B8B2"/>
          </a:solidFill>
          <a:ln>
            <a:solidFill>
              <a:srgbClr val="B9B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84048" y="6158483"/>
            <a:ext cx="5715000" cy="10160"/>
          </a:xfrm>
          <a:prstGeom prst="rect">
            <a:avLst/>
          </a:prstGeom>
          <a:solidFill>
            <a:srgbClr val="10100F"/>
          </a:solidFill>
          <a:ln>
            <a:solidFill>
              <a:srgbClr val="1010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446520" y="4517136"/>
            <a:ext cx="2258568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100"/>
              </a:spcAft>
            </a:pPr>
            <a:r>
              <a:rPr sz="615" b="1" i="0">
                <a:solidFill>
                  <a:srgbClr val="10100F"/>
                </a:solidFill>
                <a:latin typeface="Cambria"/>
              </a:rPr>
              <a:t>Synthese.</a:t>
            </a:r>
            <a:r>
              <a:rPr sz="615" b="0" i="0">
                <a:solidFill>
                  <a:srgbClr val="10100F"/>
                </a:solidFill>
                <a:latin typeface="Cambria"/>
              </a:rPr>
              <a:t> Le retournement resulte d'un effet ciseaux : baisse rapide du chiffre d'affaires, structure de couts encore dimensionnee pour un volume superieur, dette de LBO portee par la holding et choc IA sur les prestations commoditisees.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7373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80" b="0" i="0">
                <a:solidFill>
                  <a:srgbClr val="7D7D78"/>
                </a:solidFill>
                <a:latin typeface="Cambria"/>
              </a:rPr>
              <a:t>THESE REPRENEUR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93192"/>
            <a:ext cx="56692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550" b="1" i="0">
                <a:solidFill>
                  <a:srgbClr val="10100F"/>
                </a:solidFill>
                <a:latin typeface="Cambria"/>
              </a:rPr>
              <a:t>Actifs, leviers de reprise et points a securiser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49808"/>
            <a:ext cx="6949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670" b="0" i="0">
                <a:solidFill>
                  <a:srgbClr val="4A4A47"/>
                </a:solidFill>
                <a:latin typeface="Cambria"/>
              </a:rPr>
              <a:t>Base exploitable, mais offre a conditionner a la transferabilite des contrats, au bail actuel et au statut procedural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52360" y="256032"/>
            <a:ext cx="123444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2000"/>
              </a:lnSpc>
              <a:spcAft>
                <a:spcPts val="0"/>
              </a:spcAft>
            </a:pPr>
            <a:r>
              <a:rPr sz="680" b="1" i="0">
                <a:solidFill>
                  <a:srgbClr val="10100F"/>
                </a:solidFill>
                <a:latin typeface="Cambria"/>
              </a:rPr>
              <a:t>Brantham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457200"/>
            <a:ext cx="123444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2000"/>
              </a:lnSpc>
              <a:spcAft>
                <a:spcPts val="0"/>
              </a:spcAft>
            </a:pPr>
            <a:r>
              <a:rPr sz="570" b="0" i="0">
                <a:solidFill>
                  <a:srgbClr val="7D7D78"/>
                </a:solidFill>
                <a:latin typeface="Cambria"/>
              </a:rPr>
              <a:t>pre-NDA confidentiel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987552"/>
            <a:ext cx="8321040" cy="10795"/>
          </a:xfrm>
          <a:prstGeom prst="rect">
            <a:avLst/>
          </a:prstGeom>
          <a:solidFill>
            <a:srgbClr val="10100F"/>
          </a:solidFill>
          <a:ln>
            <a:solidFill>
              <a:srgbClr val="1010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39912" y="6510528"/>
            <a:ext cx="256032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2000"/>
              </a:lnSpc>
              <a:spcAft>
                <a:spcPts val="0"/>
              </a:spcAft>
            </a:pPr>
            <a:r>
              <a:rPr sz="560" b="0" i="0">
                <a:solidFill>
                  <a:srgbClr val="7D7D78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6510528"/>
            <a:ext cx="3840480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40" b="0" i="0">
                <a:solidFill>
                  <a:srgbClr val="7D7D78"/>
                </a:solidFill>
                <a:latin typeface="Cambria"/>
              </a:rPr>
              <a:t>Document confidentiel — diffusion interdite sans accord ecrit prealable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161288"/>
            <a:ext cx="155448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70" b="1" i="0">
                <a:solidFill>
                  <a:srgbClr val="7D7D78"/>
                </a:solidFill>
                <a:latin typeface="Cambria"/>
              </a:rPr>
              <a:t>CE QUI A DE LA VALEUR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1371600"/>
            <a:ext cx="4434840" cy="23317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048" y="1371600"/>
            <a:ext cx="4434840" cy="11430"/>
          </a:xfrm>
          <a:prstGeom prst="rect">
            <a:avLst/>
          </a:prstGeom>
          <a:solidFill>
            <a:srgbClr val="10100F"/>
          </a:solidFill>
          <a:ln>
            <a:solidFill>
              <a:srgbClr val="1010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" y="1604772"/>
            <a:ext cx="4434840" cy="7620"/>
          </a:xfrm>
          <a:prstGeom prst="rect">
            <a:avLst/>
          </a:prstGeom>
          <a:solidFill>
            <a:srgbClr val="B9B8B2"/>
          </a:solidFill>
          <a:ln>
            <a:solidFill>
              <a:srgbClr val="B9B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426464"/>
            <a:ext cx="149961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15" b="1" i="0">
                <a:solidFill>
                  <a:srgbClr val="10100F"/>
                </a:solidFill>
                <a:latin typeface="Cambria"/>
              </a:rPr>
              <a:t>Actif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1426464"/>
            <a:ext cx="282549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15" b="1" i="0">
                <a:solidFill>
                  <a:srgbClr val="10100F"/>
                </a:solidFill>
                <a:latin typeface="Cambria"/>
              </a:rPr>
              <a:t>Lecture repreneur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1655063"/>
            <a:ext cx="149961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05" b="0" i="0">
                <a:solidFill>
                  <a:srgbClr val="10100F"/>
                </a:solidFill>
                <a:latin typeface="Cambria"/>
              </a:rPr>
              <a:t>Marque historique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1655063"/>
            <a:ext cx="282549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05" b="0" i="0">
                <a:solidFill>
                  <a:srgbClr val="10100F"/>
                </a:solidFill>
                <a:latin typeface="Cambria"/>
              </a:rPr>
              <a:t>Pres de 50 ans d'existence, credibilite locale difficile a reconstruire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1837943"/>
            <a:ext cx="4434840" cy="4445"/>
          </a:xfrm>
          <a:prstGeom prst="rect">
            <a:avLst/>
          </a:prstGeom>
          <a:solidFill>
            <a:srgbClr val="B9B8B2"/>
          </a:solidFill>
          <a:ln>
            <a:solidFill>
              <a:srgbClr val="B9B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1837943"/>
            <a:ext cx="4434840" cy="233172"/>
          </a:xfrm>
          <a:prstGeom prst="rect">
            <a:avLst/>
          </a:prstGeom>
          <a:solidFill>
            <a:srgbClr val="F6F5F2"/>
          </a:solidFill>
          <a:ln>
            <a:solidFill>
              <a:srgbClr val="F6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1888236"/>
            <a:ext cx="149961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05" b="0" i="0">
                <a:solidFill>
                  <a:srgbClr val="10100F"/>
                </a:solidFill>
                <a:latin typeface="Cambria"/>
              </a:rPr>
              <a:t>Ancrage Grand 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1888236"/>
            <a:ext cx="282549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05" b="0" i="0">
                <a:solidFill>
                  <a:srgbClr val="10100F"/>
                </a:solidFill>
                <a:latin typeface="Cambria"/>
              </a:rPr>
              <a:t>Proximite PME, ETI industrielles, institutions et comptes regionaux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2071115"/>
            <a:ext cx="4434840" cy="4445"/>
          </a:xfrm>
          <a:prstGeom prst="rect">
            <a:avLst/>
          </a:prstGeom>
          <a:solidFill>
            <a:srgbClr val="B9B8B2"/>
          </a:solidFill>
          <a:ln>
            <a:solidFill>
              <a:srgbClr val="B9B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2121408"/>
            <a:ext cx="149961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05" b="0" i="0">
                <a:solidFill>
                  <a:srgbClr val="10100F"/>
                </a:solidFill>
                <a:latin typeface="Cambria"/>
              </a:rPr>
              <a:t>Production integree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5960" y="2121408"/>
            <a:ext cx="282549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05" b="0" i="0">
                <a:solidFill>
                  <a:srgbClr val="10100F"/>
                </a:solidFill>
                <a:latin typeface="Cambria"/>
              </a:rPr>
              <a:t>Photo, video, redaction, print, digital ; moins de dependance a la sous-traitance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2304287"/>
            <a:ext cx="4434840" cy="4445"/>
          </a:xfrm>
          <a:prstGeom prst="rect">
            <a:avLst/>
          </a:prstGeom>
          <a:solidFill>
            <a:srgbClr val="B9B8B2"/>
          </a:solidFill>
          <a:ln>
            <a:solidFill>
              <a:srgbClr val="B9B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84048" y="2304287"/>
            <a:ext cx="4434840" cy="233172"/>
          </a:xfrm>
          <a:prstGeom prst="rect">
            <a:avLst/>
          </a:prstGeom>
          <a:solidFill>
            <a:srgbClr val="F6F5F2"/>
          </a:solidFill>
          <a:ln>
            <a:solidFill>
              <a:srgbClr val="F6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79" y="2354579"/>
            <a:ext cx="149961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05" b="0" i="0">
                <a:solidFill>
                  <a:srgbClr val="10100F"/>
                </a:solidFill>
                <a:latin typeface="Cambria"/>
              </a:rPr>
              <a:t>Positionnement responsable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65960" y="2354579"/>
            <a:ext cx="282549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05" b="0" i="0">
                <a:solidFill>
                  <a:srgbClr val="10100F"/>
                </a:solidFill>
                <a:latin typeface="Cambria"/>
              </a:rPr>
              <a:t>Print eco-responsable, digital frugal, Green UX ; angle RSE exploitable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" y="2537459"/>
            <a:ext cx="4434840" cy="4445"/>
          </a:xfrm>
          <a:prstGeom prst="rect">
            <a:avLst/>
          </a:prstGeom>
          <a:solidFill>
            <a:srgbClr val="B9B8B2"/>
          </a:solidFill>
          <a:ln>
            <a:solidFill>
              <a:srgbClr val="B9B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79" y="2587751"/>
            <a:ext cx="149961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05" b="0" i="0">
                <a:solidFill>
                  <a:srgbClr val="10100F"/>
                </a:solidFill>
                <a:latin typeface="Cambria"/>
              </a:rPr>
              <a:t>Portefeuille B2B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2587751"/>
            <a:ext cx="282549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05" b="0" i="0">
                <a:solidFill>
                  <a:srgbClr val="10100F"/>
                </a:solidFill>
                <a:latin typeface="Cambria"/>
              </a:rPr>
              <a:t>Cas clients recrutement, produit, salon, institutionnel ; valeur a confirmer par contrats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4048" y="2770631"/>
            <a:ext cx="4434840" cy="4445"/>
          </a:xfrm>
          <a:prstGeom prst="rect">
            <a:avLst/>
          </a:prstGeom>
          <a:solidFill>
            <a:srgbClr val="B9B8B2"/>
          </a:solidFill>
          <a:ln>
            <a:solidFill>
              <a:srgbClr val="B9B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4048" y="2770631"/>
            <a:ext cx="4434840" cy="233172"/>
          </a:xfrm>
          <a:prstGeom prst="rect">
            <a:avLst/>
          </a:prstGeom>
          <a:solidFill>
            <a:srgbClr val="F6F5F2"/>
          </a:solidFill>
          <a:ln>
            <a:solidFill>
              <a:srgbClr val="F6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79" y="2820923"/>
            <a:ext cx="149961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05" b="0" i="0">
                <a:solidFill>
                  <a:srgbClr val="10100F"/>
                </a:solidFill>
                <a:latin typeface="Cambria"/>
              </a:rPr>
              <a:t>Equipe resserree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2820923"/>
            <a:ext cx="282549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2000"/>
              </a:lnSpc>
              <a:spcAft>
                <a:spcPts val="0"/>
              </a:spcAft>
            </a:pPr>
            <a:r>
              <a:rPr sz="505" b="0" i="0">
                <a:solidFill>
                  <a:srgbClr val="10100F"/>
                </a:solidFill>
                <a:latin typeface="Cambria"/>
              </a:rPr>
              <a:t>18-19 salaries ; premiere reduction deja engagee vs 21 en 2023 / 25 plaquette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4048" y="3003803"/>
            <a:ext cx="4434840" cy="4445"/>
          </a:xfrm>
          <a:prstGeom prst="rect">
            <a:avLst/>
          </a:prstGeom>
          <a:solidFill>
            <a:srgbClr val="B9B8B2"/>
          </a:solidFill>
          <a:ln>
            <a:solidFill>
              <a:srgbClr val="B9B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79" y="3054095"/>
            <a:ext cx="149961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05" b="0" i="0">
                <a:solidFill>
                  <a:srgbClr val="10100F"/>
                </a:solidFill>
                <a:latin typeface="Cambria"/>
              </a:rPr>
              <a:t>Incorporels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65960" y="3054095"/>
            <a:ext cx="282549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05" b="0" i="0">
                <a:solidFill>
                  <a:srgbClr val="10100F"/>
                </a:solidFill>
                <a:latin typeface="Cambria"/>
              </a:rPr>
              <a:t>Marque, methodologie, phototheque/videotheque, noms de domaine, fichier clients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4048" y="3236975"/>
            <a:ext cx="4434840" cy="4445"/>
          </a:xfrm>
          <a:prstGeom prst="rect">
            <a:avLst/>
          </a:prstGeom>
          <a:solidFill>
            <a:srgbClr val="B9B8B2"/>
          </a:solidFill>
          <a:ln>
            <a:solidFill>
              <a:srgbClr val="B9B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84048" y="3236975"/>
            <a:ext cx="4434840" cy="10160"/>
          </a:xfrm>
          <a:prstGeom prst="rect">
            <a:avLst/>
          </a:prstGeom>
          <a:solidFill>
            <a:srgbClr val="10100F"/>
          </a:solidFill>
          <a:ln>
            <a:solidFill>
              <a:srgbClr val="1010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74920" y="1161288"/>
            <a:ext cx="155448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70" b="1" i="0">
                <a:solidFill>
                  <a:srgbClr val="7D7D78"/>
                </a:solidFill>
                <a:latin typeface="Cambria"/>
              </a:rPr>
              <a:t>THESE CHIFFREE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74920" y="1371600"/>
            <a:ext cx="3630168" cy="23317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074920" y="1371600"/>
            <a:ext cx="3630168" cy="11430"/>
          </a:xfrm>
          <a:prstGeom prst="rect">
            <a:avLst/>
          </a:prstGeom>
          <a:solidFill>
            <a:srgbClr val="10100F"/>
          </a:solidFill>
          <a:ln>
            <a:solidFill>
              <a:srgbClr val="1010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74920" y="1604772"/>
            <a:ext cx="3630168" cy="7620"/>
          </a:xfrm>
          <a:prstGeom prst="rect">
            <a:avLst/>
          </a:prstGeom>
          <a:solidFill>
            <a:srgbClr val="B9B8B2"/>
          </a:solidFill>
          <a:ln>
            <a:solidFill>
              <a:srgbClr val="B9B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02352" y="1426464"/>
            <a:ext cx="127101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15" b="1" i="0">
                <a:solidFill>
                  <a:srgbClr val="10100F"/>
                </a:solidFill>
                <a:latin typeface="Cambria"/>
              </a:rPr>
              <a:t>Levier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28232" y="1426464"/>
            <a:ext cx="117957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15" b="1" i="0">
                <a:solidFill>
                  <a:srgbClr val="10100F"/>
                </a:solidFill>
                <a:latin typeface="Cambria"/>
              </a:rPr>
              <a:t>Base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62671" y="1426464"/>
            <a:ext cx="1014983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15" b="1" i="0">
                <a:solidFill>
                  <a:srgbClr val="10100F"/>
                </a:solidFill>
                <a:latin typeface="Cambria"/>
              </a:rPr>
              <a:t>Effet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02352" y="1655063"/>
            <a:ext cx="127101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05" b="0" i="0">
                <a:solidFill>
                  <a:srgbClr val="10100F"/>
                </a:solidFill>
                <a:latin typeface="Cambria"/>
              </a:rPr>
              <a:t>Retour point mort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28232" y="1655063"/>
            <a:ext cx="117957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2000"/>
              </a:lnSpc>
              <a:spcAft>
                <a:spcPts val="0"/>
              </a:spcAft>
            </a:pPr>
            <a:r>
              <a:rPr sz="505" b="0" i="0">
                <a:solidFill>
                  <a:srgbClr val="10100F"/>
                </a:solidFill>
                <a:latin typeface="Cambria"/>
              </a:rPr>
              <a:t>2,4-2,6 M€ CA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62671" y="1655063"/>
            <a:ext cx="1014983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05" b="0" i="0">
                <a:solidFill>
                  <a:srgbClr val="10100F"/>
                </a:solidFill>
                <a:latin typeface="Cambria"/>
              </a:rPr>
              <a:t>EBE positif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74920" y="1837943"/>
            <a:ext cx="3630168" cy="4445"/>
          </a:xfrm>
          <a:prstGeom prst="rect">
            <a:avLst/>
          </a:prstGeom>
          <a:solidFill>
            <a:srgbClr val="B9B8B2"/>
          </a:solidFill>
          <a:ln>
            <a:solidFill>
              <a:srgbClr val="B9B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074920" y="1837943"/>
            <a:ext cx="3630168" cy="233172"/>
          </a:xfrm>
          <a:prstGeom prst="rect">
            <a:avLst/>
          </a:prstGeom>
          <a:solidFill>
            <a:srgbClr val="F6F5F2"/>
          </a:solidFill>
          <a:ln>
            <a:solidFill>
              <a:srgbClr val="F6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102352" y="1888236"/>
            <a:ext cx="127101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05" b="0" i="0">
                <a:solidFill>
                  <a:srgbClr val="10100F"/>
                </a:solidFill>
                <a:latin typeface="Cambria"/>
              </a:rPr>
              <a:t>Relance commerciale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28232" y="1888236"/>
            <a:ext cx="117957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05" b="0" i="0">
                <a:solidFill>
                  <a:srgbClr val="10100F"/>
                </a:solidFill>
                <a:latin typeface="Cambria"/>
              </a:rPr>
              <a:t>CA historique 3,0 M€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62671" y="1888236"/>
            <a:ext cx="1014983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05" b="0" i="0">
                <a:solidFill>
                  <a:srgbClr val="10100F"/>
                </a:solidFill>
                <a:latin typeface="Cambria"/>
              </a:rPr>
              <a:t>Volume recuperable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74920" y="2071115"/>
            <a:ext cx="3630168" cy="4445"/>
          </a:xfrm>
          <a:prstGeom prst="rect">
            <a:avLst/>
          </a:prstGeom>
          <a:solidFill>
            <a:srgbClr val="B9B8B2"/>
          </a:solidFill>
          <a:ln>
            <a:solidFill>
              <a:srgbClr val="B9B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102352" y="2121408"/>
            <a:ext cx="127101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05" b="0" i="0">
                <a:solidFill>
                  <a:srgbClr val="10100F"/>
                </a:solidFill>
                <a:latin typeface="Cambria"/>
              </a:rPr>
              <a:t>Recalibrage social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28232" y="2121408"/>
            <a:ext cx="117957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2000"/>
              </a:lnSpc>
              <a:spcAft>
                <a:spcPts val="0"/>
              </a:spcAft>
            </a:pPr>
            <a:r>
              <a:rPr sz="505" b="0" i="0">
                <a:solidFill>
                  <a:srgbClr val="10100F"/>
                </a:solidFill>
                <a:latin typeface="Cambria"/>
              </a:rPr>
              <a:t>18-19 salaries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62671" y="2121408"/>
            <a:ext cx="1014983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05" b="0" i="0">
                <a:solidFill>
                  <a:srgbClr val="10100F"/>
                </a:solidFill>
                <a:latin typeface="Cambria"/>
              </a:rPr>
              <a:t>Cout fixe ajuste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74920" y="2304287"/>
            <a:ext cx="3630168" cy="4445"/>
          </a:xfrm>
          <a:prstGeom prst="rect">
            <a:avLst/>
          </a:prstGeom>
          <a:solidFill>
            <a:srgbClr val="B9B8B2"/>
          </a:solidFill>
          <a:ln>
            <a:solidFill>
              <a:srgbClr val="B9B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074920" y="2304287"/>
            <a:ext cx="3630168" cy="233172"/>
          </a:xfrm>
          <a:prstGeom prst="rect">
            <a:avLst/>
          </a:prstGeom>
          <a:solidFill>
            <a:srgbClr val="F6F5F2"/>
          </a:solidFill>
          <a:ln>
            <a:solidFill>
              <a:srgbClr val="F6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102352" y="2354579"/>
            <a:ext cx="127101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05" b="0" i="0">
                <a:solidFill>
                  <a:srgbClr val="10100F"/>
                </a:solidFill>
                <a:latin typeface="Cambria"/>
              </a:rPr>
              <a:t>Dette historique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28232" y="2354579"/>
            <a:ext cx="117957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05" b="0" i="0">
                <a:solidFill>
                  <a:srgbClr val="10100F"/>
                </a:solidFill>
                <a:latin typeface="Cambria"/>
              </a:rPr>
              <a:t>PGE ~850 K€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62671" y="2354579"/>
            <a:ext cx="1014983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05" b="0" i="0">
                <a:solidFill>
                  <a:srgbClr val="10100F"/>
                </a:solidFill>
                <a:latin typeface="Cambria"/>
              </a:rPr>
              <a:t>Non repris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074920" y="2537459"/>
            <a:ext cx="3630168" cy="4445"/>
          </a:xfrm>
          <a:prstGeom prst="rect">
            <a:avLst/>
          </a:prstGeom>
          <a:solidFill>
            <a:srgbClr val="B9B8B2"/>
          </a:solidFill>
          <a:ln>
            <a:solidFill>
              <a:srgbClr val="B9B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102352" y="2587751"/>
            <a:ext cx="127101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05" b="0" i="0">
                <a:solidFill>
                  <a:srgbClr val="10100F"/>
                </a:solidFill>
                <a:latin typeface="Cambria"/>
              </a:rPr>
              <a:t>Charge L.642-12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28232" y="2587751"/>
            <a:ext cx="117957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2000"/>
              </a:lnSpc>
              <a:spcAft>
                <a:spcPts val="0"/>
              </a:spcAft>
            </a:pPr>
            <a:r>
              <a:rPr sz="505" b="0" i="0">
                <a:solidFill>
                  <a:srgbClr val="10100F"/>
                </a:solidFill>
                <a:latin typeface="Cambria"/>
              </a:rPr>
              <a:t>~9,8 K€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62671" y="2587751"/>
            <a:ext cx="1014983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05" b="0" i="0">
                <a:solidFill>
                  <a:srgbClr val="10100F"/>
                </a:solidFill>
                <a:latin typeface="Cambria"/>
              </a:rPr>
              <a:t>Impact limite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074920" y="2770631"/>
            <a:ext cx="3630168" cy="4445"/>
          </a:xfrm>
          <a:prstGeom prst="rect">
            <a:avLst/>
          </a:prstGeom>
          <a:solidFill>
            <a:srgbClr val="B9B8B2"/>
          </a:solidFill>
          <a:ln>
            <a:solidFill>
              <a:srgbClr val="B9B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074920" y="2770631"/>
            <a:ext cx="3630168" cy="233172"/>
          </a:xfrm>
          <a:prstGeom prst="rect">
            <a:avLst/>
          </a:prstGeom>
          <a:solidFill>
            <a:srgbClr val="F6F5F2"/>
          </a:solidFill>
          <a:ln>
            <a:solidFill>
              <a:srgbClr val="F6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102352" y="2820923"/>
            <a:ext cx="127101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05" b="0" i="0">
                <a:solidFill>
                  <a:srgbClr val="10100F"/>
                </a:solidFill>
                <a:latin typeface="Cambria"/>
              </a:rPr>
              <a:t>Materiel revendique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28232" y="2820923"/>
            <a:ext cx="117957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2000"/>
              </a:lnSpc>
              <a:spcAft>
                <a:spcPts val="0"/>
              </a:spcAft>
            </a:pPr>
            <a:r>
              <a:rPr sz="505" b="0" i="0">
                <a:solidFill>
                  <a:srgbClr val="10100F"/>
                </a:solidFill>
                <a:latin typeface="Cambria"/>
              </a:rPr>
              <a:t>10-15 K€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62671" y="2820923"/>
            <a:ext cx="1014983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05" b="0" i="0">
                <a:solidFill>
                  <a:srgbClr val="10100F"/>
                </a:solidFill>
                <a:latin typeface="Cambria"/>
              </a:rPr>
              <a:t>Negociable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74920" y="3003803"/>
            <a:ext cx="3630168" cy="4445"/>
          </a:xfrm>
          <a:prstGeom prst="rect">
            <a:avLst/>
          </a:prstGeom>
          <a:solidFill>
            <a:srgbClr val="B9B8B2"/>
          </a:solidFill>
          <a:ln>
            <a:solidFill>
              <a:srgbClr val="B9B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102352" y="3054095"/>
            <a:ext cx="127101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05" b="0" i="0">
                <a:solidFill>
                  <a:srgbClr val="10100F"/>
                </a:solidFill>
                <a:latin typeface="Cambria"/>
              </a:rPr>
              <a:t>BFR redemarrage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28232" y="3054095"/>
            <a:ext cx="117957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2000"/>
              </a:lnSpc>
              <a:spcAft>
                <a:spcPts val="0"/>
              </a:spcAft>
            </a:pPr>
            <a:r>
              <a:rPr sz="505" b="0" i="0">
                <a:solidFill>
                  <a:srgbClr val="10100F"/>
                </a:solidFill>
                <a:latin typeface="Cambria"/>
              </a:rPr>
              <a:t>100-200 K€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662671" y="3054095"/>
            <a:ext cx="1014983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05" b="0" i="0">
                <a:solidFill>
                  <a:srgbClr val="10100F"/>
                </a:solidFill>
                <a:latin typeface="Cambria"/>
              </a:rPr>
              <a:t>A financer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074920" y="3236975"/>
            <a:ext cx="3630168" cy="4445"/>
          </a:xfrm>
          <a:prstGeom prst="rect">
            <a:avLst/>
          </a:prstGeom>
          <a:solidFill>
            <a:srgbClr val="B9B8B2"/>
          </a:solidFill>
          <a:ln>
            <a:solidFill>
              <a:srgbClr val="B9B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5074920" y="3236975"/>
            <a:ext cx="3630168" cy="10160"/>
          </a:xfrm>
          <a:prstGeom prst="rect">
            <a:avLst/>
          </a:prstGeom>
          <a:solidFill>
            <a:srgbClr val="10100F"/>
          </a:solidFill>
          <a:ln>
            <a:solidFill>
              <a:srgbClr val="1010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84048" y="3712463"/>
            <a:ext cx="169164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70" b="1" i="0">
                <a:solidFill>
                  <a:srgbClr val="7D7D78"/>
                </a:solidFill>
                <a:latin typeface="Cambria"/>
              </a:rPr>
              <a:t>ACTIONS DEJA ENGAGEES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84048" y="3922776"/>
            <a:ext cx="4480560" cy="23317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84048" y="3922776"/>
            <a:ext cx="4480560" cy="11430"/>
          </a:xfrm>
          <a:prstGeom prst="rect">
            <a:avLst/>
          </a:prstGeom>
          <a:solidFill>
            <a:srgbClr val="10100F"/>
          </a:solidFill>
          <a:ln>
            <a:solidFill>
              <a:srgbClr val="1010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384048" y="4155948"/>
            <a:ext cx="4480560" cy="7620"/>
          </a:xfrm>
          <a:prstGeom prst="rect">
            <a:avLst/>
          </a:prstGeom>
          <a:solidFill>
            <a:srgbClr val="B9B8B2"/>
          </a:solidFill>
          <a:ln>
            <a:solidFill>
              <a:srgbClr val="B9B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11479" y="3977639"/>
            <a:ext cx="172821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09" b="1" i="0">
                <a:solidFill>
                  <a:srgbClr val="10100F"/>
                </a:solidFill>
                <a:latin typeface="Cambria"/>
              </a:rPr>
              <a:t>Action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194560" y="3977639"/>
            <a:ext cx="264261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09" b="1" i="0">
                <a:solidFill>
                  <a:srgbClr val="10100F"/>
                </a:solidFill>
                <a:latin typeface="Cambria"/>
              </a:rPr>
              <a:t>Lecture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11479" y="4206240"/>
            <a:ext cx="172821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00" b="0" i="0">
                <a:solidFill>
                  <a:srgbClr val="10100F"/>
                </a:solidFill>
                <a:latin typeface="Cambria"/>
              </a:rPr>
              <a:t>Plan d'economies 2023-25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194560" y="4206240"/>
            <a:ext cx="264261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00" b="0" i="0">
                <a:solidFill>
                  <a:srgbClr val="10100F"/>
                </a:solidFill>
                <a:latin typeface="Cambria"/>
              </a:rPr>
              <a:t>Effort de restructuration deja amorce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84048" y="4389120"/>
            <a:ext cx="4480560" cy="4445"/>
          </a:xfrm>
          <a:prstGeom prst="rect">
            <a:avLst/>
          </a:prstGeom>
          <a:solidFill>
            <a:srgbClr val="B9B8B2"/>
          </a:solidFill>
          <a:ln>
            <a:solidFill>
              <a:srgbClr val="B9B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384048" y="4389120"/>
            <a:ext cx="4480560" cy="233172"/>
          </a:xfrm>
          <a:prstGeom prst="rect">
            <a:avLst/>
          </a:prstGeom>
          <a:solidFill>
            <a:srgbClr val="F6F5F2"/>
          </a:solidFill>
          <a:ln>
            <a:solidFill>
              <a:srgbClr val="F6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11479" y="4439412"/>
            <a:ext cx="172821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00" b="0" i="0">
                <a:solidFill>
                  <a:srgbClr val="10100F"/>
                </a:solidFill>
                <a:latin typeface="Cambria"/>
              </a:rPr>
              <a:t>Effectif 21 -&gt; 18/19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194560" y="4439412"/>
            <a:ext cx="264261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00" b="0" i="0">
                <a:solidFill>
                  <a:srgbClr val="10100F"/>
                </a:solidFill>
                <a:latin typeface="Cambria"/>
              </a:rPr>
              <a:t>Base sociale deja resserree par non-remplacements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84048" y="4622292"/>
            <a:ext cx="4480560" cy="4445"/>
          </a:xfrm>
          <a:prstGeom prst="rect">
            <a:avLst/>
          </a:prstGeom>
          <a:solidFill>
            <a:srgbClr val="B9B8B2"/>
          </a:solidFill>
          <a:ln>
            <a:solidFill>
              <a:srgbClr val="B9B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1479" y="4672583"/>
            <a:ext cx="172821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00" b="0" i="0">
                <a:solidFill>
                  <a:srgbClr val="10100F"/>
                </a:solidFill>
                <a:latin typeface="Cambria"/>
              </a:rPr>
              <a:t>Sous-traitance variabilisee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194560" y="4672583"/>
            <a:ext cx="264261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00" b="0" i="0">
                <a:solidFill>
                  <a:srgbClr val="10100F"/>
                </a:solidFill>
                <a:latin typeface="Cambria"/>
              </a:rPr>
              <a:t>Modele potentiellement plus flexible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84048" y="4855464"/>
            <a:ext cx="4480560" cy="4445"/>
          </a:xfrm>
          <a:prstGeom prst="rect">
            <a:avLst/>
          </a:prstGeom>
          <a:solidFill>
            <a:srgbClr val="B9B8B2"/>
          </a:solidFill>
          <a:ln>
            <a:solidFill>
              <a:srgbClr val="B9B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384048" y="4855464"/>
            <a:ext cx="4480560" cy="233172"/>
          </a:xfrm>
          <a:prstGeom prst="rect">
            <a:avLst/>
          </a:prstGeom>
          <a:solidFill>
            <a:srgbClr val="F6F5F2"/>
          </a:solidFill>
          <a:ln>
            <a:solidFill>
              <a:srgbClr val="F6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11479" y="4905755"/>
            <a:ext cx="172821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00" b="0" i="0">
                <a:solidFill>
                  <a:srgbClr val="10100F"/>
                </a:solidFill>
                <a:latin typeface="Cambria"/>
              </a:rPr>
              <a:t>Primes direction supprimees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194560" y="4905755"/>
            <a:ext cx="264261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00" b="0" i="0">
                <a:solidFill>
                  <a:srgbClr val="10100F"/>
                </a:solidFill>
                <a:latin typeface="Cambria"/>
              </a:rPr>
              <a:t>Charges non operationnelles reduites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84048" y="5088636"/>
            <a:ext cx="4480560" cy="4445"/>
          </a:xfrm>
          <a:prstGeom prst="rect">
            <a:avLst/>
          </a:prstGeom>
          <a:solidFill>
            <a:srgbClr val="B9B8B2"/>
          </a:solidFill>
          <a:ln>
            <a:solidFill>
              <a:srgbClr val="B9B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11479" y="5138927"/>
            <a:ext cx="172821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00" b="0" i="0">
                <a:solidFill>
                  <a:srgbClr val="10100F"/>
                </a:solidFill>
                <a:latin typeface="Cambria"/>
              </a:rPr>
              <a:t>Renforcement commercial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194560" y="5138927"/>
            <a:ext cx="264261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00" b="0" i="0">
                <a:solidFill>
                  <a:srgbClr val="10100F"/>
                </a:solidFill>
                <a:latin typeface="Cambria"/>
              </a:rPr>
              <a:t>Tentative de relance a reprendre / challenger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84048" y="5321807"/>
            <a:ext cx="4480560" cy="4445"/>
          </a:xfrm>
          <a:prstGeom prst="rect">
            <a:avLst/>
          </a:prstGeom>
          <a:solidFill>
            <a:srgbClr val="B9B8B2"/>
          </a:solidFill>
          <a:ln>
            <a:solidFill>
              <a:srgbClr val="B9B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384048" y="5321807"/>
            <a:ext cx="4480560" cy="10160"/>
          </a:xfrm>
          <a:prstGeom prst="rect">
            <a:avLst/>
          </a:prstGeom>
          <a:solidFill>
            <a:srgbClr val="10100F"/>
          </a:solidFill>
          <a:ln>
            <a:solidFill>
              <a:srgbClr val="1010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74920" y="3712463"/>
            <a:ext cx="169164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70" b="1" i="0">
                <a:solidFill>
                  <a:srgbClr val="7D7D78"/>
                </a:solidFill>
                <a:latin typeface="Cambria"/>
              </a:rPr>
              <a:t>POINTS A CONFIRMER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074920" y="3922776"/>
            <a:ext cx="3630168" cy="23317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5074920" y="3922776"/>
            <a:ext cx="3630168" cy="11430"/>
          </a:xfrm>
          <a:prstGeom prst="rect">
            <a:avLst/>
          </a:prstGeom>
          <a:solidFill>
            <a:srgbClr val="10100F"/>
          </a:solidFill>
          <a:ln>
            <a:solidFill>
              <a:srgbClr val="1010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5074920" y="4155948"/>
            <a:ext cx="3630168" cy="7620"/>
          </a:xfrm>
          <a:prstGeom prst="rect">
            <a:avLst/>
          </a:prstGeom>
          <a:solidFill>
            <a:srgbClr val="B9B8B2"/>
          </a:solidFill>
          <a:ln>
            <a:solidFill>
              <a:srgbClr val="B9B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102352" y="3977639"/>
            <a:ext cx="149961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09" b="1" i="0">
                <a:solidFill>
                  <a:srgbClr val="10100F"/>
                </a:solidFill>
                <a:latin typeface="Cambria"/>
              </a:rPr>
              <a:t>Sujet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656832" y="3977639"/>
            <a:ext cx="2020824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09" b="1" i="0">
                <a:solidFill>
                  <a:srgbClr val="10100F"/>
                </a:solidFill>
                <a:latin typeface="Cambria"/>
              </a:rPr>
              <a:t>Pourquoi c'est critique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102352" y="4206240"/>
            <a:ext cx="149961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00" b="0" i="0">
                <a:solidFill>
                  <a:srgbClr val="10100F"/>
                </a:solidFill>
                <a:latin typeface="Cambria"/>
              </a:rPr>
              <a:t>Statut procedural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656832" y="4206240"/>
            <a:ext cx="2020824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00" b="0" i="0">
                <a:solidFill>
                  <a:srgbClr val="10100F"/>
                </a:solidFill>
                <a:latin typeface="Cambria"/>
              </a:rPr>
              <a:t>Sauvegarde : cession effective a clarifier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074920" y="4389120"/>
            <a:ext cx="3630168" cy="4445"/>
          </a:xfrm>
          <a:prstGeom prst="rect">
            <a:avLst/>
          </a:prstGeom>
          <a:solidFill>
            <a:srgbClr val="B9B8B2"/>
          </a:solidFill>
          <a:ln>
            <a:solidFill>
              <a:srgbClr val="B9B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074920" y="4389120"/>
            <a:ext cx="3630168" cy="233172"/>
          </a:xfrm>
          <a:prstGeom prst="rect">
            <a:avLst/>
          </a:prstGeom>
          <a:solidFill>
            <a:srgbClr val="F6F5F2"/>
          </a:solidFill>
          <a:ln>
            <a:solidFill>
              <a:srgbClr val="F6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5102352" y="4439412"/>
            <a:ext cx="149961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00" b="0" i="0">
                <a:solidFill>
                  <a:srgbClr val="10100F"/>
                </a:solidFill>
                <a:latin typeface="Cambria"/>
              </a:rPr>
              <a:t>Contrats clients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656832" y="4439412"/>
            <a:ext cx="2020824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00" b="0" i="0">
                <a:solidFill>
                  <a:srgbClr val="10100F"/>
                </a:solidFill>
                <a:latin typeface="Cambria"/>
              </a:rPr>
              <a:t>Transferabilite / concentration / CA recurrent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074920" y="4622292"/>
            <a:ext cx="3630168" cy="4445"/>
          </a:xfrm>
          <a:prstGeom prst="rect">
            <a:avLst/>
          </a:prstGeom>
          <a:solidFill>
            <a:srgbClr val="B9B8B2"/>
          </a:solidFill>
          <a:ln>
            <a:solidFill>
              <a:srgbClr val="B9B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5102352" y="4672583"/>
            <a:ext cx="149961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00" b="0" i="0">
                <a:solidFill>
                  <a:srgbClr val="10100F"/>
                </a:solidFill>
                <a:latin typeface="Cambria"/>
              </a:rPr>
              <a:t>Bail Strasbourg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656832" y="4672583"/>
            <a:ext cx="2020824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00" b="0" i="0">
                <a:solidFill>
                  <a:srgbClr val="10100F"/>
                </a:solidFill>
                <a:latin typeface="Cambria"/>
              </a:rPr>
              <a:t>Condition d'exploitation post-reprise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074920" y="4855464"/>
            <a:ext cx="3630168" cy="4445"/>
          </a:xfrm>
          <a:prstGeom prst="rect">
            <a:avLst/>
          </a:prstGeom>
          <a:solidFill>
            <a:srgbClr val="B9B8B2"/>
          </a:solidFill>
          <a:ln>
            <a:solidFill>
              <a:srgbClr val="B9B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5074920" y="4855464"/>
            <a:ext cx="3630168" cy="233172"/>
          </a:xfrm>
          <a:prstGeom prst="rect">
            <a:avLst/>
          </a:prstGeom>
          <a:solidFill>
            <a:srgbClr val="F6F5F2"/>
          </a:solidFill>
          <a:ln>
            <a:solidFill>
              <a:srgbClr val="F6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102352" y="4905755"/>
            <a:ext cx="149961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00" b="0" i="0">
                <a:solidFill>
                  <a:srgbClr val="10100F"/>
                </a:solidFill>
                <a:latin typeface="Cambria"/>
              </a:rPr>
              <a:t>Etat du passif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656832" y="4905755"/>
            <a:ext cx="2020824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00" b="0" i="0">
                <a:solidFill>
                  <a:srgbClr val="10100F"/>
                </a:solidFill>
                <a:latin typeface="Cambria"/>
              </a:rPr>
              <a:t>Privileges et charges residuelles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5074920" y="5088636"/>
            <a:ext cx="3630168" cy="4445"/>
          </a:xfrm>
          <a:prstGeom prst="rect">
            <a:avLst/>
          </a:prstGeom>
          <a:solidFill>
            <a:srgbClr val="B9B8B2"/>
          </a:solidFill>
          <a:ln>
            <a:solidFill>
              <a:srgbClr val="B9B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5102352" y="5138927"/>
            <a:ext cx="149961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00" b="0" i="0">
                <a:solidFill>
                  <a:srgbClr val="10100F"/>
                </a:solidFill>
                <a:latin typeface="Cambria"/>
              </a:rPr>
              <a:t>Effectif actualise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656832" y="5138927"/>
            <a:ext cx="2020824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00" b="0" i="0">
                <a:solidFill>
                  <a:srgbClr val="10100F"/>
                </a:solidFill>
                <a:latin typeface="Cambria"/>
              </a:rPr>
              <a:t>Volet social et conges payes repris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074920" y="5321807"/>
            <a:ext cx="3630168" cy="4445"/>
          </a:xfrm>
          <a:prstGeom prst="rect">
            <a:avLst/>
          </a:prstGeom>
          <a:solidFill>
            <a:srgbClr val="B9B8B2"/>
          </a:solidFill>
          <a:ln>
            <a:solidFill>
              <a:srgbClr val="B9B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5074920" y="5321807"/>
            <a:ext cx="3630168" cy="233172"/>
          </a:xfrm>
          <a:prstGeom prst="rect">
            <a:avLst/>
          </a:prstGeom>
          <a:solidFill>
            <a:srgbClr val="F6F5F2"/>
          </a:solidFill>
          <a:ln>
            <a:solidFill>
              <a:srgbClr val="F6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5102352" y="5372099"/>
            <a:ext cx="1499616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00" b="0" i="0">
                <a:solidFill>
                  <a:srgbClr val="10100F"/>
                </a:solidFill>
                <a:latin typeface="Cambria"/>
              </a:rPr>
              <a:t>PI / domaines / fichier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656832" y="5372099"/>
            <a:ext cx="2020824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00" b="0" i="0">
                <a:solidFill>
                  <a:srgbClr val="10100F"/>
                </a:solidFill>
                <a:latin typeface="Cambria"/>
              </a:rPr>
              <a:t>Valeur incorporelle a securiser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5074920" y="5554979"/>
            <a:ext cx="3630168" cy="4445"/>
          </a:xfrm>
          <a:prstGeom prst="rect">
            <a:avLst/>
          </a:prstGeom>
          <a:solidFill>
            <a:srgbClr val="B9B8B2"/>
          </a:solidFill>
          <a:ln>
            <a:solidFill>
              <a:srgbClr val="B9B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5074920" y="5554979"/>
            <a:ext cx="3630168" cy="10160"/>
          </a:xfrm>
          <a:prstGeom prst="rect">
            <a:avLst/>
          </a:prstGeom>
          <a:solidFill>
            <a:srgbClr val="10100F"/>
          </a:solidFill>
          <a:ln>
            <a:solidFill>
              <a:srgbClr val="1010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384048" y="5650992"/>
            <a:ext cx="56235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100"/>
              </a:spcAft>
            </a:pPr>
            <a:r>
              <a:rPr sz="625" b="1" i="0">
                <a:solidFill>
                  <a:srgbClr val="10100F"/>
                </a:solidFill>
                <a:latin typeface="Cambria"/>
              </a:rPr>
              <a:t>Conclusion.</a:t>
            </a:r>
            <a:r>
              <a:rPr sz="625" b="0" i="0">
                <a:solidFill>
                  <a:srgbClr val="10100F"/>
                </a:solidFill>
                <a:latin typeface="Cambria"/>
              </a:rPr>
              <a:t> Le dossier n'est pas a vendre comme une agence saine, mais comme une plateforme regionale a relancer : marque ancienne, savoir-faire integre, marge brute preservee, dette historique non reprise et point mort clairement identifiable.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309360" y="5641848"/>
            <a:ext cx="2395728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60" b="0" i="0">
                <a:solidFill>
                  <a:srgbClr val="4A4A47"/>
                </a:solidFill>
                <a:latin typeface="Cambria"/>
              </a:rPr>
              <a:t>Disclaimer. Presentation preliminaire et confidentielle ; ne constitue ni une offre ni un memorandum d'information. Informations d'identification volontairement omises a ce stade. Contact : Paul Roulleau — Brantham Partners.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
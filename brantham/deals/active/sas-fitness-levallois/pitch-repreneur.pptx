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PRÉSENTATION REPRENEUR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01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800" b="0" i="0">
                <a:solidFill>
                  <a:srgbClr val="0F0F0E"/>
                </a:solidFill>
                <a:latin typeface="Inter"/>
              </a:rPr>
              <a:t>Reprendre une </a:t>
            </a:r>
            <a:r>
              <a:rPr sz="5800" b="0" i="1">
                <a:solidFill>
                  <a:srgbClr val="0F0F0E"/>
                </a:solidFill>
                <a:latin typeface="Instrument Serif"/>
              </a:rPr>
              <a:t>salle de sport</a:t>
            </a:r>
          </a:p>
          <a:p>
            <a:pPr>
              <a:lnSpc>
                <a:spcPct val="105000"/>
              </a:lnSpc>
            </a:pPr>
            <a:r>
              <a:rPr sz="5800" b="0" i="0">
                <a:solidFill>
                  <a:srgbClr val="0F0F0E"/>
                </a:solidFill>
                <a:latin typeface="Inter"/>
              </a:rPr>
              <a:t>en redressement judiciaire.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500" b="0" i="0">
                <a:solidFill>
                  <a:srgbClr val="4A4A47"/>
                </a:solidFill>
                <a:latin typeface="Inter"/>
              </a:rPr>
              <a:t>SAS Fitness Levallois — dossier d'analyse, 28 avril 2026.
Préparé par Brantham Partners pour le repreneur.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212080"/>
            <a:ext cx="1252728" cy="329184"/>
          </a:xfrm>
          <a:prstGeom prst="roundRect">
            <a:avLst>
              <a:gd name="adj" fmla="val 50000"/>
            </a:avLst>
          </a:prstGeom>
          <a:solidFill>
            <a:srgbClr val="F4F3F0"/>
          </a:solidFill>
          <a:ln w="6350">
            <a:solidFill>
              <a:srgbClr val="E5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140">
                <a:solidFill>
                  <a:srgbClr val="4A4A47"/>
                </a:solidFill>
                <a:latin typeface="DM Mono"/>
              </a:rPr>
              <a:t>LEVALLOIS 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9696" y="5212080"/>
            <a:ext cx="1019556" cy="329184"/>
          </a:xfrm>
          <a:prstGeom prst="roundRect">
            <a:avLst>
              <a:gd name="adj" fmla="val 50000"/>
            </a:avLst>
          </a:prstGeom>
          <a:solidFill>
            <a:srgbClr val="F4F3F0"/>
          </a:solidFill>
          <a:ln w="6350">
            <a:solidFill>
              <a:srgbClr val="E5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140">
                <a:solidFill>
                  <a:srgbClr val="4A4A47"/>
                </a:solidFill>
                <a:latin typeface="DM Mono"/>
              </a:rPr>
              <a:t>CA 350 K€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8980" y="5212080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FAECEA"/>
          </a:solidFill>
          <a:ln w="6350">
            <a:solidFill>
              <a:srgbClr val="E8C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140">
                <a:solidFill>
                  <a:srgbClr val="C8251A"/>
                </a:solidFill>
                <a:latin typeface="DM Mono"/>
              </a:rPr>
              <a:t>DLDO 21/05/2026  12H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CONFIDENTIEL — USAGE 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rgbClr val="0F0F0E"/>
                </a:solidFill>
                <a:latin typeface="Inter"/>
              </a:rPr>
              <a:t>La société, </a:t>
            </a:r>
            <a:r>
              <a:rPr sz="4400" b="0" i="1">
                <a:solidFill>
                  <a:srgbClr val="0F0F0E"/>
                </a:solidFill>
                <a:latin typeface="Instrument Serif"/>
              </a:rPr>
              <a:t>en deux minutes</a:t>
            </a:r>
            <a:r>
              <a:rPr sz="44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423160"/>
            <a:ext cx="548640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7980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4320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Activité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Salle de sport indépendante — 900 m² — Levallois-Perret (92)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9895" y="28163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8A8A86"/>
                </a:solidFill>
                <a:latin typeface="DM Mono"/>
              </a:rPr>
              <a:t>COACHING · CARDIO · MUSCULATION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370332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39410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88620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Forme juridique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SAS Fitness Levallois — enseigne O3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9895" y="39593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8A8A86"/>
                </a:solidFill>
                <a:latin typeface="DM Mono"/>
              </a:rPr>
              <a:t>DIRIGEANT UNIQUE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484632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0840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02920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Effectif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[N] salariés — masse salariale annuelle [Y] K€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9895" y="51023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8A8A86"/>
                </a:solidFill>
                <a:latin typeface="DM Mono"/>
              </a:rPr>
              <a:t>BULLETINS DE PAIE EN DR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598932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2270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617220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Chiffre d'affaires 2024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350 K€ vs pic 2022 à 595 K€ — perte 41 % en deux exercices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9895" y="62453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8A8A86"/>
                </a:solidFill>
                <a:latin typeface="DM Mono"/>
              </a:rPr>
              <a:t>SOURCE LIASSE FISCALE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713232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1 · CONTEXTE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PROCÉDURE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rgbClr val="0F0F0E"/>
                </a:solidFill>
                <a:latin typeface="Inter"/>
              </a:rPr>
              <a:t>Redressement judiciaire ouvert</a:t>
            </a:r>
          </a:p>
          <a:p>
            <a:pPr>
              <a:lnSpc>
                <a:spcPct val="105000"/>
              </a:lnSpc>
            </a:pPr>
            <a:r>
              <a:rPr sz="4400" b="0" i="0">
                <a:solidFill>
                  <a:srgbClr val="0F0F0E"/>
                </a:solidFill>
                <a:latin typeface="Inter"/>
              </a:rPr>
              <a:t>le </a:t>
            </a:r>
            <a:r>
              <a:rPr sz="4400" b="0" i="1">
                <a:solidFill>
                  <a:srgbClr val="0F0F0E"/>
                </a:solidFill>
                <a:latin typeface="Instrument Serif"/>
              </a:rPr>
              <a:t>[date d'ouverture]</a:t>
            </a:r>
            <a:r>
              <a:rPr sz="44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743200"/>
            <a:ext cx="548640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3072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Tribunal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Tribunal de commerce de Nanterre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9895" y="3090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8A8A86"/>
                </a:solidFill>
                <a:latin typeface="DM Mono"/>
              </a:rPr>
              <a:t>HAUTS-DE-SEINE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3977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215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60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Administrateur judiciaire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[Maître X] — cabinet [Y]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9895" y="4233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8A8A86"/>
                </a:solidFill>
                <a:latin typeface="DM Mono"/>
              </a:rPr>
              <a:t>MISSION CESSION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5120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358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303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Mandataire judiciaire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[Maître Z]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9895" y="5376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8A8A86"/>
                </a:solidFill>
                <a:latin typeface="DM Mono"/>
              </a:rPr>
              <a:t>REPRÉSENTANT CRÉANCIERS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501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6446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Échéance dépôt offres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Greffe Nanterre — pli cacheté avec garantie bancaire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9895" y="6519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C8251A"/>
                </a:solidFill>
                <a:latin typeface="DM Mono"/>
              </a:rPr>
              <a:t>21/05/2026 · 12h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7406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1 · CONTEXTE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TRAJECTOIRE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rgbClr val="0F0F0E"/>
                </a:solidFill>
                <a:latin typeface="Inter"/>
              </a:rPr>
              <a:t>Quatre ans, </a:t>
            </a:r>
            <a:r>
              <a:rPr sz="4400" b="0" i="1">
                <a:solidFill>
                  <a:srgbClr val="0F0F0E"/>
                </a:solidFill>
                <a:latin typeface="Instrument Serif"/>
              </a:rPr>
              <a:t>une descente continue</a:t>
            </a:r>
            <a:r>
              <a:rPr sz="44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423160"/>
            <a:ext cx="548640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788920"/>
            <a:ext cx="21274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180">
                <a:solidFill>
                  <a:srgbClr val="8A8A86"/>
                </a:solidFill>
                <a:latin typeface="DM Mono"/>
              </a:rPr>
              <a:t>INDICATEUR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4683" y="2788920"/>
            <a:ext cx="21274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180">
                <a:solidFill>
                  <a:srgbClr val="8A8A86"/>
                </a:solidFill>
                <a:latin typeface="DM Mono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2126" y="2788920"/>
            <a:ext cx="21274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180">
                <a:solidFill>
                  <a:srgbClr val="8A8A86"/>
                </a:solidFill>
                <a:latin typeface="DM Mono"/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569" y="2788920"/>
            <a:ext cx="21274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180">
                <a:solidFill>
                  <a:srgbClr val="8A8A86"/>
                </a:solidFill>
                <a:latin typeface="DM Mono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7012" y="2788920"/>
            <a:ext cx="21274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180">
                <a:solidFill>
                  <a:srgbClr val="8A8A86"/>
                </a:solidFill>
                <a:latin typeface="DM Mono"/>
              </a:rPr>
              <a:t>PO 6 MOIS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3246120"/>
            <a:ext cx="10637215" cy="0"/>
          </a:xfrm>
          <a:prstGeom prst="line">
            <a:avLst/>
          </a:prstGeom>
          <a:ln w="7620">
            <a:solidFill>
              <a:srgbClr val="D8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38328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4A4A47"/>
                </a:solidFill>
                <a:latin typeface="Inter"/>
              </a:rPr>
              <a:t>Chiffre d'affaires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4683" y="338328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DM Mono"/>
              </a:rPr>
              <a:t>595 K€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2126" y="338328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DM Mono"/>
              </a:rPr>
              <a:t>478 K€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569" y="338328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DM Mono"/>
              </a:rPr>
              <a:t>350 K€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7012" y="338328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DM Mono"/>
              </a:rPr>
              <a:t>175 K€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3886200"/>
            <a:ext cx="10637215" cy="0"/>
          </a:xfrm>
          <a:prstGeom prst="line">
            <a:avLst/>
          </a:prstGeom>
          <a:ln w="508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02336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4A4A47"/>
                </a:solidFill>
                <a:latin typeface="Inter"/>
              </a:rPr>
              <a:t>EBE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4683" y="402336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DM Mono"/>
              </a:rPr>
              <a:t>62 K€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126" y="402336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DM Mono"/>
              </a:rPr>
              <a:t>14 K€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569" y="402336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8251A"/>
                </a:solidFill>
                <a:latin typeface="DM Mono"/>
              </a:rPr>
              <a:t>−38 K€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7012" y="402336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7A3A"/>
                </a:solidFill>
                <a:latin typeface="DM Mono"/>
              </a:rPr>
              <a:t>+12 K€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4526280"/>
            <a:ext cx="10637215" cy="0"/>
          </a:xfrm>
          <a:prstGeom prst="line">
            <a:avLst/>
          </a:prstGeom>
          <a:ln w="508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66344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4A4A47"/>
                </a:solidFill>
                <a:latin typeface="Inter"/>
              </a:rPr>
              <a:t>Résultat 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4683" y="466344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DM Mono"/>
              </a:rPr>
              <a:t>21 K€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2126" y="466344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8251A"/>
                </a:solidFill>
                <a:latin typeface="DM Mono"/>
              </a:rPr>
              <a:t>−24 K€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569" y="466344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8251A"/>
                </a:solidFill>
                <a:latin typeface="DM Mono"/>
              </a:rPr>
              <a:t>−72 K€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7012" y="466344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7A3A"/>
                </a:solidFill>
                <a:latin typeface="DM Mono"/>
              </a:rPr>
              <a:t>+4 K€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5166360"/>
            <a:ext cx="10637215" cy="0"/>
          </a:xfrm>
          <a:prstGeom prst="line">
            <a:avLst/>
          </a:prstGeom>
          <a:ln w="508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530352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4A4A47"/>
                </a:solidFill>
                <a:latin typeface="Inter"/>
              </a:rPr>
              <a:t>Trésorerie fin de période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4683" y="530352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DM Mono"/>
              </a:rPr>
              <a:t>48 K€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2126" y="530352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DM Mono"/>
              </a:rPr>
              <a:t>22 K€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569" y="530352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8251A"/>
                </a:solidFill>
                <a:latin typeface="DM Mono"/>
              </a:rPr>
              <a:t>−9 K€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7012" y="5303520"/>
            <a:ext cx="21274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7A3A"/>
                </a:solidFill>
                <a:latin typeface="DM Mono"/>
              </a:rPr>
              <a:t>+18 K€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5806440"/>
            <a:ext cx="10637215" cy="0"/>
          </a:xfrm>
          <a:prstGeom prst="line">
            <a:avLst/>
          </a:prstGeom>
          <a:ln w="508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58521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 spc="180">
                <a:solidFill>
                  <a:srgbClr val="B8B8B4"/>
                </a:solidFill>
                <a:latin typeface="DM Mono"/>
              </a:rPr>
              <a:t>CHIFFRES NORMALISÉS — SOURCE LIASSES FISCALES + NOTE EXPERT-COMPTABLE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2 · DIAGNOSTIC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POINT VITAL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0" i="0">
                <a:solidFill>
                  <a:srgbClr val="C8251A"/>
                </a:solidFill>
                <a:latin typeface="Instrument Serif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200" b="0" i="0">
                <a:solidFill>
                  <a:srgbClr val="0F0F0E"/>
                </a:solidFill>
                <a:latin typeface="Inter"/>
              </a:rPr>
              <a:t>Le bail commercial</a:t>
            </a:r>
          </a:p>
          <a:p>
            <a:pPr>
              <a:lnSpc>
                <a:spcPct val="105000"/>
              </a:lnSpc>
            </a:pPr>
            <a:r>
              <a:rPr sz="4200" b="0" i="1">
                <a:solidFill>
                  <a:srgbClr val="0F0F0E"/>
                </a:solidFill>
                <a:latin typeface="Instrument Serif"/>
              </a:rPr>
              <a:t>a expiré le 30/06/2024</a:t>
            </a:r>
            <a:r>
              <a:rPr sz="42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206240"/>
            <a:ext cx="548640" cy="0"/>
          </a:xfrm>
          <a:prstGeom prst="line">
            <a:avLst/>
          </a:prstGeom>
          <a:ln w="19050">
            <a:solidFill>
              <a:srgbClr val="C825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44348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400" b="0" i="0">
                <a:solidFill>
                  <a:srgbClr val="4A4A47"/>
                </a:solidFill>
                <a:latin typeface="Inter"/>
              </a:rPr>
              <a:t>Aucune reconduction tacite signée. Le local est occupé sans titre depuis 22 mois.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29200"/>
            <a:ext cx="10515600" cy="1097280"/>
          </a:xfrm>
          <a:prstGeom prst="roundRect">
            <a:avLst>
              <a:gd name="adj" fmla="val 8000"/>
            </a:avLst>
          </a:prstGeom>
          <a:solidFill>
            <a:srgbClr val="FAECEA"/>
          </a:solidFill>
          <a:ln w="6350">
            <a:solidFill>
              <a:srgbClr val="E8C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C8251A"/>
                </a:solidFill>
                <a:latin typeface="DM Mono"/>
              </a:rPr>
              <a:t>À SAVOIR</a:t>
            </a:r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sz="1500" b="0" i="0">
                <a:solidFill>
                  <a:srgbClr val="0F0F0E"/>
                </a:solidFill>
                <a:latin typeface="Inter"/>
              </a:rPr>
              <a:t>La bailleresse est elle-même demanderesse au redressement judiciaire. Sans renégociation d'un nouveau bail à conditions soutenables, aucune reprise n'est viable. C'est l'unique levier binaire du dossier.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2 · DIAGNOSTIC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PÉRIODE D'OBSERVATION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rgbClr val="0F0F0E"/>
                </a:solidFill>
                <a:latin typeface="Inter"/>
              </a:rPr>
              <a:t>6 mois sous AJ,</a:t>
            </a:r>
          </a:p>
          <a:p>
            <a:pPr>
              <a:lnSpc>
                <a:spcPct val="105000"/>
              </a:lnSpc>
            </a:pPr>
            <a:r>
              <a:rPr sz="4400" b="0" i="0">
                <a:solidFill>
                  <a:srgbClr val="0F0F0E"/>
                </a:solidFill>
                <a:latin typeface="Inter"/>
              </a:rPr>
              <a:t>le cash redevient </a:t>
            </a:r>
            <a:r>
              <a:rPr sz="4400" b="0" i="1">
                <a:solidFill>
                  <a:srgbClr val="0F0F0E"/>
                </a:solidFill>
                <a:latin typeface="Instrument Serif"/>
              </a:rPr>
              <a:t>positif</a:t>
            </a:r>
            <a:r>
              <a:rPr sz="44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743200"/>
            <a:ext cx="548640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3072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Cash net 6 mois normalisé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Avant prise en compte du loyer plein — après gel des dettes antérieures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9895" y="3090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1A7A3A"/>
                </a:solidFill>
                <a:latin typeface="DM Mono"/>
              </a:rPr>
              <a:t>+12 K€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3977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215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60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Annualisé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Extrapolation linéaire sur 12 mois, conditions PO inchangées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9895" y="4233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1A7A3A"/>
                </a:solidFill>
                <a:latin typeface="DM Mono"/>
              </a:rPr>
              <a:t>+28 K€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5120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358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303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Si bail renégocié à 110 K€/an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Hypothèse cible — voir slide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9895" y="5376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1A7A3A"/>
                </a:solidFill>
                <a:latin typeface="DM Mono"/>
              </a:rPr>
              <a:t>+98 K€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6537960"/>
            <a:ext cx="10515600" cy="1097280"/>
          </a:xfrm>
          <a:prstGeom prst="roundRect">
            <a:avLst>
              <a:gd name="adj" fmla="val 8000"/>
            </a:avLst>
          </a:prstGeom>
          <a:solidFill>
            <a:srgbClr val="F4F3F0"/>
          </a:solidFill>
          <a:ln w="6350">
            <a:solidFill>
              <a:srgbClr val="E5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672084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LECTURE</a:t>
            </a:r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sz="1500" b="0" i="0">
                <a:solidFill>
                  <a:srgbClr val="0F0F0E"/>
                </a:solidFill>
                <a:latin typeface="Inter"/>
              </a:rPr>
              <a:t>L'exploitation est opérationnellement saine. Ce qui a tué la société, c'est le loyer, pas le business.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2 · DIAGNOSTIC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07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rgbClr val="0F0F0E"/>
                </a:solidFill>
                <a:latin typeface="Inter"/>
              </a:rPr>
              <a:t>Sur 100 € encaissés,</a:t>
            </a:r>
          </a:p>
          <a:p>
            <a:pPr>
              <a:lnSpc>
                <a:spcPct val="105000"/>
              </a:lnSpc>
            </a:pPr>
            <a:r>
              <a:rPr sz="4400" b="0" i="1">
                <a:solidFill>
                  <a:srgbClr val="0F0F0E"/>
                </a:solidFill>
                <a:latin typeface="Instrument Serif"/>
              </a:rPr>
              <a:t>où part l'argent</a:t>
            </a:r>
            <a:r>
              <a:rPr sz="44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743200"/>
            <a:ext cx="548640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3108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0F0E"/>
                </a:solidFill>
                <a:latin typeface="Inter"/>
              </a:rPr>
              <a:t>Loyer commercial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3474720"/>
            <a:ext cx="6400800" cy="164592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25880" y="3474720"/>
            <a:ext cx="3264408" cy="164592"/>
          </a:xfrm>
          <a:prstGeom prst="rect">
            <a:avLst/>
          </a:prstGeom>
          <a:solidFill>
            <a:srgbClr val="C8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85655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F0F0E"/>
                </a:solidFill>
                <a:latin typeface="DM Mono"/>
              </a:rPr>
              <a:t>51 €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384048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069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77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0F0E"/>
                </a:solidFill>
                <a:latin typeface="Inter"/>
              </a:rPr>
              <a:t>Masse salariale chargée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4434840"/>
            <a:ext cx="6400800" cy="164592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25880" y="4434840"/>
            <a:ext cx="1792224" cy="164592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5655" y="4069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F0F0E"/>
                </a:solidFill>
                <a:latin typeface="DM Mono"/>
              </a:rPr>
              <a:t>28 €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80060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937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0F0E"/>
                </a:solidFill>
                <a:latin typeface="Inter"/>
              </a:rPr>
              <a:t>Charges fixes (énergie, assurance, télécom)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5394960"/>
            <a:ext cx="6400800" cy="164592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25880" y="5394960"/>
            <a:ext cx="896112" cy="164592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5655" y="5029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F0F0E"/>
                </a:solidFill>
                <a:latin typeface="DM Mono"/>
              </a:rPr>
              <a:t>14 €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576072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5989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897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0F0E"/>
                </a:solidFill>
                <a:latin typeface="Inter"/>
              </a:rPr>
              <a:t>Achats &amp; fluides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6355080"/>
            <a:ext cx="6400800" cy="164592"/>
          </a:xfrm>
          <a:prstGeom prst="rect">
            <a:avLst/>
          </a:prstGeom>
          <a:solidFill>
            <a:srgbClr val="EE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25880" y="6355080"/>
            <a:ext cx="320040" cy="164592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5655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F0F0E"/>
                </a:solidFill>
                <a:latin typeface="DM Mono"/>
              </a:rPr>
              <a:t>5 €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7208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58521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 spc="180">
                <a:solidFill>
                  <a:srgbClr val="B8B8B4"/>
                </a:solidFill>
                <a:latin typeface="DM Mono"/>
              </a:rPr>
              <a:t>BASE CA 2024 — STRUCTURE AVANT RENÉGOCIATION DU BAIL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3 · ARGENT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LEVIER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200" b="0" i="0">
                <a:solidFill>
                  <a:srgbClr val="0F0F0E"/>
                </a:solidFill>
                <a:latin typeface="Inter"/>
              </a:rPr>
              <a:t>Renégocier le loyer,</a:t>
            </a:r>
          </a:p>
          <a:p>
            <a:pPr>
              <a:lnSpc>
                <a:spcPct val="105000"/>
              </a:lnSpc>
            </a:pPr>
            <a:r>
              <a:rPr sz="4200" b="0" i="1">
                <a:solidFill>
                  <a:srgbClr val="0F0F0E"/>
                </a:solidFill>
                <a:latin typeface="Instrument Serif"/>
              </a:rPr>
              <a:t>seule variable qui change tout</a:t>
            </a:r>
            <a:r>
              <a:rPr sz="42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743200"/>
            <a:ext cx="548640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3017520"/>
            <a:ext cx="5135727" cy="3108960"/>
          </a:xfrm>
          <a:prstGeom prst="roundRect">
            <a:avLst>
              <a:gd name="adj" fmla="val 4000"/>
            </a:avLst>
          </a:prstGeom>
          <a:solidFill>
            <a:srgbClr val="F4F3F0"/>
          </a:solidFill>
          <a:ln w="6350">
            <a:solidFill>
              <a:srgbClr val="E5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AVANT — BAIL HISTORIQUE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9476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Loyer annuel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9476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F0F0E"/>
                </a:solidFill>
                <a:latin typeface="DM Mono"/>
              </a:rPr>
              <a:t>180 K€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178808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4224528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% du 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24528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F0F0E"/>
                </a:solidFill>
                <a:latin typeface="DM Mono"/>
              </a:rPr>
              <a:t>51 %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43000" y="4608576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4654296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EBE An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54296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8251A"/>
                </a:solidFill>
                <a:latin typeface="DM Mono"/>
              </a:rPr>
              <a:t>−12 K€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43000" y="5038344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43000" y="5084064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Cash net An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84064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8251A"/>
                </a:solidFill>
                <a:latin typeface="DM Mono"/>
              </a:rPr>
              <a:t>−8 K€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5468112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78727" y="3017520"/>
            <a:ext cx="5135727" cy="3108960"/>
          </a:xfrm>
          <a:prstGeom prst="roundRect">
            <a:avLst>
              <a:gd name="adj" fmla="val 4000"/>
            </a:avLst>
          </a:prstGeom>
          <a:solidFill>
            <a:srgbClr val="ECF6EF"/>
          </a:solidFill>
          <a:ln w="6350">
            <a:solidFill>
              <a:srgbClr val="C9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4487" y="329184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1A7A3A"/>
                </a:solidFill>
                <a:latin typeface="DM Mono"/>
              </a:rPr>
              <a:t>APRÈS — BAIL RENÉGOCIÉ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379476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Loyer annuel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379476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F0F0E"/>
                </a:solidFill>
                <a:latin typeface="DM Mono"/>
              </a:rPr>
              <a:t>110 K€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44487.5" y="4178808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44487" y="4224528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% du 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4224528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F0F0E"/>
                </a:solidFill>
                <a:latin typeface="DM Mono"/>
              </a:rPr>
              <a:t>31 %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44487.5" y="4608576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44487" y="4654296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EBE An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4654296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A7A3A"/>
                </a:solidFill>
                <a:latin typeface="DM Mono"/>
              </a:rPr>
              <a:t>+38 K€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644487.5" y="5038344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44487" y="5084064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Cash net An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487" y="5084064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A7A3A"/>
                </a:solidFill>
                <a:latin typeface="DM Mono"/>
              </a:rPr>
              <a:t>+32 K€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44487.5" y="5468112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3 · ARGENT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SCÉNARIOS 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09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rgbClr val="0F0F0E"/>
                </a:solidFill>
                <a:latin typeface="Inter"/>
              </a:rPr>
              <a:t>Trois trajectoires,</a:t>
            </a:r>
          </a:p>
          <a:p>
            <a:pPr>
              <a:lnSpc>
                <a:spcPct val="105000"/>
              </a:lnSpc>
            </a:pPr>
            <a:r>
              <a:rPr sz="4400" b="0" i="1">
                <a:solidFill>
                  <a:srgbClr val="0F0F0E"/>
                </a:solidFill>
                <a:latin typeface="Instrument Serif"/>
              </a:rPr>
              <a:t>une seule vivable</a:t>
            </a:r>
            <a:r>
              <a:rPr sz="44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743200"/>
            <a:ext cx="548640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3072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Pessimiste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Bail non renégocié (180 K€) · CA stable à 350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9895" y="3090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C8251A"/>
                </a:solidFill>
                <a:latin typeface="DM Mono"/>
              </a:rPr>
              <a:t>−8 K€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3977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215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60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Cible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Bail à 110 K€ · CA stable à 350 K€ · effectif inchangé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9895" y="4233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1A7A3A"/>
                </a:solidFill>
                <a:latin typeface="DM Mono"/>
              </a:rPr>
              <a:t>+32 K€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5120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358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303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Relance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Bail à 110 K€ · CA porté à 450 K€ · marketing local + offre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9895" y="5376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1A7A3A"/>
                </a:solidFill>
                <a:latin typeface="DM Mono"/>
              </a:rPr>
              <a:t>+89 K€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4 · PROJECTION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PÉRIMÈTRE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200" b="0" i="0">
                <a:solidFill>
                  <a:srgbClr val="0F0F0E"/>
                </a:solidFill>
                <a:latin typeface="Inter"/>
              </a:rPr>
              <a:t>Ce que le repreneur prend, </a:t>
            </a:r>
          </a:p>
          <a:p>
            <a:pPr>
              <a:lnSpc>
                <a:spcPct val="105000"/>
              </a:lnSpc>
            </a:pPr>
            <a:r>
              <a:rPr sz="4200" b="0" i="1">
                <a:solidFill>
                  <a:srgbClr val="0F0F0E"/>
                </a:solidFill>
                <a:latin typeface="Instrument Serif"/>
              </a:rPr>
              <a:t>ce qu'il laisse</a:t>
            </a:r>
            <a:r>
              <a:rPr sz="42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743200"/>
            <a:ext cx="548640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3017520"/>
            <a:ext cx="5135727" cy="3108960"/>
          </a:xfrm>
          <a:prstGeom prst="roundRect">
            <a:avLst>
              <a:gd name="adj" fmla="val 4000"/>
            </a:avLst>
          </a:prstGeom>
          <a:solidFill>
            <a:srgbClr val="F4F3F0"/>
          </a:solidFill>
          <a:ln w="6350">
            <a:solidFill>
              <a:srgbClr val="E5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REPRIS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9476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Fonds de commerce &amp; clientèle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9476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A7A3A"/>
                </a:solidFill>
                <a:latin typeface="DM Mono"/>
              </a:rPr>
              <a:t>✓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178808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4224528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Bail commercial (renégocié)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24528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A7A3A"/>
                </a:solidFill>
                <a:latin typeface="DM Mono"/>
              </a:rPr>
              <a:t>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43000" y="4608576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4654296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Matériel &amp; équipements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54296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F0F0E"/>
                </a:solidFill>
                <a:latin typeface="DM Mono"/>
              </a:rPr>
              <a:t>inv. CP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43000" y="5038344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43000" y="5084064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Stocks (forfait)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84064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A7A3A"/>
                </a:solidFill>
                <a:latin typeface="DM Mono"/>
              </a:rPr>
              <a:t>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5468112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5513832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Salariés repris (sur effectif)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513832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F0F0E"/>
                </a:solidFill>
                <a:latin typeface="DM Mono"/>
              </a:rPr>
              <a:t>[N] / [M]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5897880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3000" y="594360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Contrats essentiels (assurance)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94360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F0F0E"/>
                </a:solidFill>
                <a:latin typeface="DM Mono"/>
              </a:rPr>
              <a:t>L. 642-7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43000" y="6327648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78727" y="3017520"/>
            <a:ext cx="5135727" cy="3108960"/>
          </a:xfrm>
          <a:prstGeom prst="roundRect">
            <a:avLst>
              <a:gd name="adj" fmla="val 4000"/>
            </a:avLst>
          </a:prstGeom>
          <a:solidFill>
            <a:srgbClr val="FAECEA"/>
          </a:solidFill>
          <a:ln w="6350">
            <a:solidFill>
              <a:srgbClr val="E8C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4487" y="329184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C8251A"/>
                </a:solidFill>
                <a:latin typeface="DM Mono"/>
              </a:rPr>
              <a:t>EXCLU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4487" y="379476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Créances clients antérieures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379476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8251A"/>
                </a:solidFill>
                <a:latin typeface="DM Mono"/>
              </a:rPr>
              <a:t>✗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644487.5" y="4178808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44487" y="4224528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Dettes fournisseurs &amp; fiscales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487" y="4224528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8251A"/>
                </a:solidFill>
                <a:latin typeface="DM Mono"/>
              </a:rPr>
              <a:t>✗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44487.5" y="4608576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44487" y="4654296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Congés payés antérieurs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4487" y="4654296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8251A"/>
                </a:solidFill>
                <a:latin typeface="DM Mono"/>
              </a:rPr>
              <a:t>✗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44487.5" y="5038344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644487" y="5084064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Trésorerie &amp; comptes bancaires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4487" y="5084064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8251A"/>
                </a:solidFill>
                <a:latin typeface="DM Mono"/>
              </a:rPr>
              <a:t>✗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644487.5" y="5468112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44487" y="5513832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Contrats hors L. 642-7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4487" y="5513832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8251A"/>
                </a:solidFill>
                <a:latin typeface="DM Mono"/>
              </a:rPr>
              <a:t>✗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644487.5" y="5897880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644487" y="594360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F0F0E"/>
                </a:solidFill>
                <a:latin typeface="Inter"/>
              </a:rPr>
              <a:t>Réserve de propriété &amp; crédit-bail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4487" y="594360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8251A"/>
                </a:solidFill>
                <a:latin typeface="DM Mono"/>
              </a:rPr>
              <a:t>✗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44487.5" y="6327648"/>
            <a:ext cx="4404207.5" cy="0"/>
          </a:xfrm>
          <a:prstGeom prst="line">
            <a:avLst/>
          </a:prstGeom>
          <a:ln w="508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4 · PROJECTION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5E5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8A8A86"/>
                </a:solidFill>
                <a:latin typeface="DM Mono"/>
              </a:rPr>
              <a:t>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B8B8B4"/>
                </a:solidFill>
                <a:latin typeface="DM Mono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rgbClr val="0F0F0E"/>
                </a:solidFill>
                <a:latin typeface="Inter"/>
              </a:rPr>
              <a:t>Cash à mobiliser :</a:t>
            </a:r>
          </a:p>
          <a:p>
            <a:pPr>
              <a:lnSpc>
                <a:spcPct val="105000"/>
              </a:lnSpc>
            </a:pPr>
            <a:r>
              <a:rPr sz="4400" b="0" i="1">
                <a:solidFill>
                  <a:srgbClr val="0F0F0E"/>
                </a:solidFill>
                <a:latin typeface="Instrument Serif"/>
              </a:rPr>
              <a:t>100 à 125 K€</a:t>
            </a:r>
            <a:r>
              <a:rPr sz="4400" b="0" i="0">
                <a:solidFill>
                  <a:srgbClr val="0F0F0E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743200"/>
            <a:ext cx="548640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3072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Prix d'offre au tribunal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8,6 % du CA de référence — conforme à la pratique distressed (≤ 12 %)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9895" y="3090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F0F0E"/>
                </a:solidFill>
                <a:latin typeface="DM Mono"/>
              </a:rPr>
              <a:t>30 K€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3977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215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60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CAPEX rafraîchissement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Sols, peintures, matériel à remettre à niveau — cible 6 premiers mois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9895" y="4233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F0F0E"/>
                </a:solidFill>
                <a:latin typeface="DM Mono"/>
              </a:rPr>
              <a:t>35 K€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5120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358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303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BFR de démarrage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3 mois de charges fixes — abonnements clients lissés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9895" y="5376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F0F0E"/>
                </a:solidFill>
                <a:latin typeface="DM Mono"/>
              </a:rPr>
              <a:t>35 K€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501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A8A86"/>
                </a:solidFill>
                <a:latin typeface="DM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644652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F0F0E"/>
                </a:solidFill>
                <a:latin typeface="Inter"/>
              </a:rPr>
              <a:t>Frais (acte, garantie, divers)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4A4A47"/>
                </a:solidFill>
                <a:latin typeface="Inter"/>
              </a:rPr>
              <a:t>Honoraires rédacteur, mainlevée sûretés, garantie bancaire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9895" y="6519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F0F0E"/>
                </a:solidFill>
                <a:latin typeface="DM Mono"/>
              </a:rPr>
              <a:t>15 K€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7406640"/>
            <a:ext cx="10637215" cy="0"/>
          </a:xfrm>
          <a:prstGeom prst="line">
            <a:avLst/>
          </a:prstGeom>
          <a:ln w="6350">
            <a:solidFill>
              <a:srgbClr val="E0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7240" y="7589520"/>
            <a:ext cx="10637215" cy="0"/>
          </a:xfrm>
          <a:prstGeom prst="line">
            <a:avLst/>
          </a:prstGeom>
          <a:ln w="19050">
            <a:solidFill>
              <a:srgbClr val="0F0F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76809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0F0E"/>
                </a:solidFill>
                <a:latin typeface="Inter"/>
              </a:rPr>
              <a:t>Total cash mobilisé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1255" y="7680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0F0F0E"/>
                </a:solidFill>
                <a:latin typeface="DM Mono"/>
              </a:rPr>
              <a:t>115 K€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E5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0F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AFAF8"/>
                </a:solidFill>
                <a:latin typeface="Inter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F0F0E"/>
                </a:solidFill>
                <a:latin typeface="Inter"/>
              </a:rPr>
              <a:t>Brantham Partners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B8B8B4"/>
                </a:solidFill>
                <a:latin typeface="DM Mono"/>
              </a:rPr>
              <a:t>ACTE 4 · PROJECTION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B0B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9A9A97"/>
                </a:solidFill>
                <a:latin typeface="DM Mono"/>
              </a:rPr>
              <a:t>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70706E"/>
                </a:solidFill>
                <a:latin typeface="DM Mono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rgbClr val="FAFAF8"/>
                </a:solidFill>
                <a:latin typeface="Inter"/>
              </a:rPr>
              <a:t>Trois feux verts,</a:t>
            </a:r>
          </a:p>
          <a:p>
            <a:pPr>
              <a:lnSpc>
                <a:spcPct val="105000"/>
              </a:lnSpc>
            </a:pPr>
            <a:r>
              <a:rPr sz="4400" b="0" i="1">
                <a:solidFill>
                  <a:srgbClr val="FAFAF8"/>
                </a:solidFill>
                <a:latin typeface="Instrument Serif"/>
              </a:rPr>
              <a:t>avant signature</a:t>
            </a:r>
            <a:r>
              <a:rPr sz="4400" b="0" i="0">
                <a:solidFill>
                  <a:srgbClr val="FAFAF8"/>
                </a:solidFill>
                <a:latin typeface="Inter"/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743200"/>
            <a:ext cx="548640" cy="0"/>
          </a:xfrm>
          <a:prstGeom prst="line">
            <a:avLst/>
          </a:prstGeom>
          <a:ln w="19050">
            <a:solidFill>
              <a:srgbClr val="FA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31638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0807E"/>
                </a:solidFill>
                <a:latin typeface="DM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10896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FAFAF8"/>
                </a:solidFill>
                <a:latin typeface="Inter"/>
              </a:rPr>
              <a:t>Bail renégocié ≤ 110 K€/an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B0B0AE"/>
                </a:solidFill>
                <a:latin typeface="Inter"/>
              </a:rPr>
              <a:t>Protocole tripartite repreneur / bailleresse / AJ — avant dépôt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9895" y="31821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E58078"/>
                </a:solidFill>
                <a:latin typeface="DM Mono"/>
              </a:rPr>
              <a:t>BLOQUANT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069080"/>
            <a:ext cx="10637215" cy="0"/>
          </a:xfrm>
          <a:prstGeom prst="line">
            <a:avLst/>
          </a:prstGeom>
          <a:ln w="6350">
            <a:solidFill>
              <a:srgbClr val="2A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3068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0807E"/>
                </a:solidFill>
                <a:latin typeface="DM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5196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FAFAF8"/>
                </a:solidFill>
                <a:latin typeface="Inter"/>
              </a:rPr>
              <a:t>Lettre d'intention bancaire 80 K€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B0B0AE"/>
                </a:solidFill>
                <a:latin typeface="Inter"/>
              </a:rPr>
              <a:t>Garantie de financement à joindre au pli — chèque de banque ou GAPD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9895" y="43251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E58078"/>
                </a:solidFill>
                <a:latin typeface="DM Mono"/>
              </a:rPr>
              <a:t>BLOQUANT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5212080"/>
            <a:ext cx="10637215" cy="0"/>
          </a:xfrm>
          <a:prstGeom prst="line">
            <a:avLst/>
          </a:prstGeom>
          <a:ln w="6350">
            <a:solidFill>
              <a:srgbClr val="2A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4498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 spc="180">
                <a:solidFill>
                  <a:srgbClr val="80807E"/>
                </a:solidFill>
                <a:latin typeface="DM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394960"/>
            <a:ext cx="7711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FAFAF8"/>
                </a:solidFill>
                <a:latin typeface="Inter"/>
              </a:rPr>
              <a:t>Inventaire matériel contradictoire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300" b="0" i="0">
                <a:solidFill>
                  <a:srgbClr val="B0B0AE"/>
                </a:solidFill>
                <a:latin typeface="Inter"/>
              </a:rPr>
              <a:t>Vérification physique avant offre — écart toléré ≤ 10 %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9895" y="54681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160">
                <a:solidFill>
                  <a:srgbClr val="8A8A86"/>
                </a:solidFill>
                <a:latin typeface="DM Mono"/>
              </a:rPr>
              <a:t>CONFIRMATIF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355080"/>
            <a:ext cx="10637215" cy="0"/>
          </a:xfrm>
          <a:prstGeom prst="line">
            <a:avLst/>
          </a:prstGeom>
          <a:ln w="6350">
            <a:solidFill>
              <a:srgbClr val="2A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2A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0F0E"/>
                </a:solidFill>
                <a:latin typeface="Inter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AFAF8"/>
                </a:solidFill>
                <a:latin typeface="Inter"/>
              </a:rPr>
              <a:t>Brantham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70706E"/>
                </a:solidFill>
                <a:latin typeface="DM Mono"/>
              </a:rPr>
              <a:t>ACTE 5 · DÉCISION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52920"/>
            <a:ext cx="82296" cy="82296"/>
          </a:xfrm>
          <a:prstGeom prst="ellipse">
            <a:avLst/>
          </a:prstGeom>
          <a:solidFill>
            <a:srgbClr val="B0B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9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 spc="200">
                <a:solidFill>
                  <a:srgbClr val="9A9A97"/>
                </a:solidFill>
                <a:latin typeface="DM Mono"/>
              </a:rPr>
              <a:t>RECOMMANDATION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5655" y="49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 spc="200">
                <a:solidFill>
                  <a:srgbClr val="70706E"/>
                </a:solidFill>
                <a:latin typeface="DM Mono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400" b="0" i="0">
                <a:solidFill>
                  <a:srgbClr val="FAFAF8"/>
                </a:solidFill>
                <a:latin typeface="Inter"/>
              </a:rPr>
              <a:t>Déposer une offre à </a:t>
            </a:r>
            <a:r>
              <a:rPr sz="5400" b="0" i="1">
                <a:solidFill>
                  <a:srgbClr val="FAFAF8"/>
                </a:solidFill>
                <a:latin typeface="Instrument Serif"/>
              </a:rPr>
              <a:t>30 K€</a:t>
            </a:r>
            <a:r>
              <a:rPr sz="5400" b="0" i="0">
                <a:solidFill>
                  <a:srgbClr val="FAFAF8"/>
                </a:solidFill>
                <a:latin typeface="Inter"/>
              </a:rPr>
              <a:t>,</a:t>
            </a:r>
          </a:p>
          <a:p>
            <a:pPr>
              <a:lnSpc>
                <a:spcPct val="105000"/>
              </a:lnSpc>
            </a:pPr>
            <a:r>
              <a:rPr sz="5400" b="0" i="0">
                <a:solidFill>
                  <a:srgbClr val="FAFAF8"/>
                </a:solidFill>
                <a:latin typeface="Inter"/>
              </a:rPr>
              <a:t>conditionnelle à la renégociation du bail.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C8C7C2"/>
                </a:solidFill>
                <a:latin typeface="Inter"/>
              </a:rPr>
              <a:t>Ticket repreneur 115 K€ cash. Cash net An 1 attendu +32 K€ en scénario cible, +89 K€ si CA relancé. Trois conditions suspensives à valider avant dépôt.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90908E"/>
                </a:solidFill>
                <a:latin typeface="Inter"/>
              </a:rPr>
              <a:t>Décision interne avant le 14/05/2026.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FAFAF8"/>
                </a:solidFill>
                <a:latin typeface="Inter"/>
              </a:rPr>
              <a:t>Dépôt greffe Nanterre — </a:t>
            </a:r>
            <a:r>
              <a:rPr sz="2200" b="0" i="1">
                <a:solidFill>
                  <a:srgbClr val="FAFAF8"/>
                </a:solidFill>
                <a:latin typeface="Instrument Serif"/>
              </a:rPr>
              <a:t>21/05/2026 · 12h</a:t>
            </a:r>
            <a:r>
              <a:rPr sz="2200" b="0" i="0">
                <a:solidFill>
                  <a:srgbClr val="FAFAF8"/>
                </a:solidFill>
                <a:latin typeface="Inter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6263640"/>
            <a:ext cx="10637215" cy="0"/>
          </a:xfrm>
          <a:prstGeom prst="line">
            <a:avLst/>
          </a:prstGeom>
          <a:ln w="6350">
            <a:solidFill>
              <a:srgbClr val="2A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77240" y="6400800"/>
            <a:ext cx="292608" cy="29260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0F0E"/>
                </a:solidFill>
                <a:latin typeface="Inter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6419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AFAF8"/>
                </a:solidFill>
                <a:latin typeface="Inter"/>
              </a:rPr>
              <a:t>Brantham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455" y="6437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70706E"/>
                </a:solidFill>
                <a:latin typeface="DM Mono"/>
              </a:rPr>
              <a:t>BRANTHAM.FR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
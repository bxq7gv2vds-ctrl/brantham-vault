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46304"/>
            <a:ext cx="61264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24497A"/>
                </a:solidFill>
                <a:latin typeface="Aptos Display"/>
              </a:rPr>
              <a:t>Company and Investment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77639" cy="530352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29800" y="6455664"/>
            <a:ext cx="128016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40" b="0" i="1">
                <a:solidFill>
                  <a:srgbClr val="24497A"/>
                </a:solidFill>
                <a:latin typeface="Aptos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55664"/>
            <a:ext cx="228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F5F5F"/>
                </a:solidFill>
                <a:latin typeface="Apto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841248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918972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996696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74420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152144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29868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07592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85316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6303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54076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61848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69621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77393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851660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929384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00710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08483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162556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24027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231800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39572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247345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255117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262889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270662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278434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286207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293979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301751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309524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317296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325069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332841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340613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348386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356158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0" y="363931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0" y="371703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89120" y="379475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387248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395020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0" y="402793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10565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89120" y="418337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426110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89120" y="433882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89120" y="441655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89120" y="449427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89120" y="457199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89120" y="464972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89120" y="472744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89120" y="480517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89120" y="488289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89120" y="496061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89120" y="503834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89120" y="511606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89120" y="519379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89120" y="527151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0" y="534923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89120" y="542696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9120" y="550468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89120" y="558241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89120" y="566013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89120" y="573785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89120" y="581558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89120" y="589330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0" y="597103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89120" y="604875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89120" y="612647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389120" y="620420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89120" y="628192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389120" y="635965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01168" y="841248"/>
            <a:ext cx="4069080" cy="329184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1168" y="896112"/>
            <a:ext cx="4069080" cy="25603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Company Overview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37744" y="1225296"/>
            <a:ext cx="3995928" cy="1600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0B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1426464"/>
            <a:ext cx="11887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65" b="0" i="0">
                <a:solidFill>
                  <a:srgbClr val="60B058"/>
                </a:solidFill>
                <a:latin typeface="Apto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1426464"/>
            <a:ext cx="3355848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5" b="0" i="0">
                <a:solidFill>
                  <a:srgbClr val="2D2D2D"/>
                </a:solidFill>
                <a:latin typeface="Aptos"/>
              </a:rPr>
              <a:t>Agence-conseil française de communication et production visuelle, créée à la fin des années 1970.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1828800"/>
            <a:ext cx="11887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65" b="0" i="0">
                <a:solidFill>
                  <a:srgbClr val="60B058"/>
                </a:solidFill>
                <a:latin typeface="Aptos"/>
              </a:rP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1828800"/>
            <a:ext cx="3355848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5" b="0" i="0">
                <a:solidFill>
                  <a:srgbClr val="2D2D2D"/>
                </a:solidFill>
                <a:latin typeface="Aptos"/>
              </a:rPr>
              <a:t>Positionnement intégré : marque, marque employeur, slow content, édition / print éco-responsable, digital frugal et Green UX.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2231136"/>
            <a:ext cx="11887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65" b="0" i="0">
                <a:solidFill>
                  <a:srgbClr val="60B058"/>
                </a:solidFill>
                <a:latin typeface="Aptos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" y="2231136"/>
            <a:ext cx="3355848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5" b="0" i="0">
                <a:solidFill>
                  <a:srgbClr val="2D2D2D"/>
                </a:solidFill>
                <a:latin typeface="Aptos"/>
              </a:rPr>
              <a:t>Ancrage historique Grand Est, avec savoir-faire photo / vidéo / print / digital et portefeuille B2B à documenter.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1168" y="3017520"/>
            <a:ext cx="4069080" cy="329184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1168" y="3072384"/>
            <a:ext cx="4069080" cy="25603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Financial Snapshot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1168" y="3447288"/>
            <a:ext cx="4334256" cy="265176"/>
          </a:xfrm>
          <a:prstGeom prst="rect">
            <a:avLst/>
          </a:prstGeom>
          <a:solidFill>
            <a:srgbClr val="60B058"/>
          </a:solidFill>
          <a:ln>
            <a:solidFill>
              <a:srgbClr val="60B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37744" y="3511296"/>
            <a:ext cx="1627632" cy="1920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K€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38528" y="3511296"/>
            <a:ext cx="566928" cy="1920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FY22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78608" y="3511296"/>
            <a:ext cx="566928" cy="1920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FY23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18688" y="3511296"/>
            <a:ext cx="566928" cy="1920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FY24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58768" y="3511296"/>
            <a:ext cx="640080" cy="1920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9m 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7744" y="3762755"/>
            <a:ext cx="1627632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20" b="1" i="0">
                <a:solidFill>
                  <a:srgbClr val="2D2D2D"/>
                </a:solidFill>
                <a:latin typeface="Aptos"/>
              </a:rPr>
              <a:t>Revenue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38528" y="3762755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2 993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78608" y="3762755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2 427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18688" y="3762755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2 312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58768" y="3762755"/>
            <a:ext cx="640080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1 357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01168" y="3968496"/>
            <a:ext cx="4334256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37744" y="4027931"/>
            <a:ext cx="1627632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20" b="1" i="0">
                <a:solidFill>
                  <a:srgbClr val="2D2D2D"/>
                </a:solidFill>
                <a:latin typeface="Aptos"/>
              </a:rPr>
              <a:t>EBE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938528" y="4027931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227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78608" y="4027931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36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18688" y="4027931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79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58768" y="4027931"/>
            <a:ext cx="640080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(284)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1168" y="4233672"/>
            <a:ext cx="4334256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7744" y="4293107"/>
            <a:ext cx="1627632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20" b="1" i="0">
                <a:solidFill>
                  <a:srgbClr val="2D2D2D"/>
                </a:solidFill>
                <a:latin typeface="Aptos"/>
              </a:rPr>
              <a:t>EBE 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938528" y="4293107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7.6%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78608" y="4293107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1.5%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18688" y="4293107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3.4%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858768" y="4293107"/>
            <a:ext cx="640080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(20.9%)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01168" y="4498848"/>
            <a:ext cx="4334256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37744" y="4558283"/>
            <a:ext cx="1627632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20" b="1" i="0">
                <a:solidFill>
                  <a:srgbClr val="2D2D2D"/>
                </a:solidFill>
                <a:latin typeface="Aptos"/>
              </a:rPr>
              <a:t>Net income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38528" y="4558283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97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578608" y="4558283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(77)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218688" y="4558283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(1)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58768" y="4558283"/>
            <a:ext cx="640080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(345)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01168" y="4764024"/>
            <a:ext cx="4334256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37744" y="4823459"/>
            <a:ext cx="1627632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20" b="1" i="0">
                <a:solidFill>
                  <a:srgbClr val="2D2D2D"/>
                </a:solidFill>
                <a:latin typeface="Aptos"/>
              </a:rPr>
              <a:t>Payroll + charges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938528" y="4823459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1 137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78608" y="4823459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1 064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218688" y="4823459"/>
            <a:ext cx="566928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972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858768" y="4823459"/>
            <a:ext cx="640080" cy="210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20" b="0" i="0">
                <a:solidFill>
                  <a:srgbClr val="2D2D2D"/>
                </a:solidFill>
                <a:latin typeface="Aptos"/>
              </a:rPr>
              <a:t>820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01168" y="5029200"/>
            <a:ext cx="4334256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19456" y="5157216"/>
            <a:ext cx="4069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15" b="0" i="1">
                <a:solidFill>
                  <a:srgbClr val="5F5F5F"/>
                </a:solidFill>
                <a:latin typeface="Aptos"/>
              </a:rPr>
              <a:t>Note: 9m 25 corresponds to 12/2025 management accounts; revenue annualised at c. €1.8m.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01168" y="5431536"/>
            <a:ext cx="4069080" cy="329184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01168" y="5486400"/>
            <a:ext cx="4069080" cy="25603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Ownership / Procedure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01168" y="5870448"/>
            <a:ext cx="4233672" cy="256032"/>
          </a:xfrm>
          <a:prstGeom prst="rect">
            <a:avLst/>
          </a:prstGeom>
          <a:solidFill>
            <a:srgbClr val="60B058"/>
          </a:solidFill>
          <a:ln>
            <a:solidFill>
              <a:srgbClr val="60B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37744" y="5934456"/>
            <a:ext cx="235000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10" b="1" i="0">
                <a:solidFill>
                  <a:srgbClr val="FFFFFF"/>
                </a:solidFill>
                <a:latin typeface="Aptos"/>
              </a:rPr>
              <a:t>Item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60904" y="5934456"/>
            <a:ext cx="17373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10" b="1" i="0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7744" y="6176772"/>
            <a:ext cx="235000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95" b="1" i="0">
                <a:solidFill>
                  <a:srgbClr val="2D2D2D"/>
                </a:solidFill>
                <a:latin typeface="Aptos"/>
              </a:rPr>
              <a:t>Shareholder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60904" y="6176772"/>
            <a:ext cx="1737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95" b="0" i="0">
                <a:solidFill>
                  <a:srgbClr val="2D2D2D"/>
                </a:solidFill>
                <a:latin typeface="Aptos"/>
              </a:rPr>
              <a:t>INTRA SAS, 100%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01168" y="6373368"/>
            <a:ext cx="4233672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37744" y="6432804"/>
            <a:ext cx="235000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95" b="1" i="0">
                <a:solidFill>
                  <a:srgbClr val="2D2D2D"/>
                </a:solidFill>
                <a:latin typeface="Aptos"/>
              </a:rPr>
              <a:t>Procedure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60904" y="6432804"/>
            <a:ext cx="1737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95" b="0" i="0">
                <a:solidFill>
                  <a:srgbClr val="2D2D2D"/>
                </a:solidFill>
                <a:latin typeface="Aptos"/>
              </a:rPr>
              <a:t>Sauvegarde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01168" y="6629400"/>
            <a:ext cx="4233672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37744" y="6688836"/>
            <a:ext cx="235000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95" b="1" i="0">
                <a:solidFill>
                  <a:srgbClr val="2D2D2D"/>
                </a:solidFill>
                <a:latin typeface="Aptos"/>
              </a:rPr>
              <a:t>Transfer status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60904" y="6688836"/>
            <a:ext cx="1737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95" b="0" i="0">
                <a:solidFill>
                  <a:srgbClr val="2D2D2D"/>
                </a:solidFill>
                <a:latin typeface="Aptos"/>
              </a:rPr>
              <a:t>To be clarified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01168" y="6885432"/>
            <a:ext cx="4233672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535424" y="841248"/>
            <a:ext cx="7452360" cy="329184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535424" y="896112"/>
            <a:ext cx="7452360" cy="25603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Proposed Transaction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535424" y="1261872"/>
            <a:ext cx="7452360" cy="420624"/>
          </a:xfrm>
          <a:prstGeom prst="roundRect">
            <a:avLst/>
          </a:prstGeom>
          <a:solidFill>
            <a:srgbClr val="E2EBF7"/>
          </a:solidFill>
          <a:ln w="11430">
            <a:solidFill>
              <a:srgbClr val="60B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645152" y="1353312"/>
            <a:ext cx="723290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5" b="0" i="0">
                <a:solidFill>
                  <a:srgbClr val="2D2D2D"/>
                </a:solidFill>
                <a:latin typeface="Aptos"/>
              </a:rPr>
              <a:t>Opportunity to acquire and relaunch a regional communication platform, subject to confirmation of the procedural route allowing an asset transfer and the exact scope of transferable contracts, employees, IP and lease.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535424" y="1847088"/>
            <a:ext cx="7452360" cy="329184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35424" y="1901952"/>
            <a:ext cx="7452360" cy="25603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Business / Asset Overview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35424" y="2359152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★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303520" y="2395728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Core activity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644383" y="2377440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Brand strategy, visual production, content, print, employer branding and digital responsibility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535424" y="2779776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535424" y="2871216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€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303520" y="2907792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Revenue base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44383" y="2889504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c. €2.3m last full year; c. €1.8m recent annualised revenue; historical peak c. €3.0m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35424" y="3291840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535424" y="3383280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303520" y="3419856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Gross margin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44383" y="3401568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c. 75-77% gross margin preserved; issue lies in volume vs fixed cost base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535424" y="3803904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535424" y="3895344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👥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303520" y="3931920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Manpower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44383" y="3913631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18-19 current employees; first reduction already consumed vs 21 in 2023 / 25 in legacy deck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535424" y="4315968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535424" y="4407408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⚙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303520" y="4443984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Break-even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644383" y="4425696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Estimated EBE break-even around €2.4-2.6m revenue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535424" y="4828032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535424" y="4919472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⌁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303520" y="4956048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Assets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644383" y="4937760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Brand, client file, photo/video library, domains, methodology and production know-how to be secured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535424" y="5340096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35424" y="5431536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B62A3A"/>
                </a:solidFill>
                <a:latin typeface="Aptos"/>
              </a:rPr>
              <a:t>!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303520" y="5468112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Liabilities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644383" y="5449824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Historical PGE debt c. €850k not expected to transfer in an asset sale; L.642-12 direct charge c. €9.8k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535424" y="5852160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535424" y="5989320"/>
            <a:ext cx="74523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45" b="0" i="1">
                <a:solidFill>
                  <a:srgbClr val="5F5F5F"/>
                </a:solidFill>
                <a:latin typeface="Aptos"/>
              </a:rPr>
              <a:t>* Pre-NDA view. The exact scope remains subject to data room confirmation, procedural status and transferability of client contracts.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46304"/>
            <a:ext cx="61264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24497A"/>
                </a:solidFill>
                <a:latin typeface="Aptos Display"/>
              </a:rPr>
              <a:t>Turnaround Diagnosis and Repreneur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77639" cy="530352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29800" y="6455664"/>
            <a:ext cx="128016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40" b="0" i="1">
                <a:solidFill>
                  <a:srgbClr val="24497A"/>
                </a:solidFill>
                <a:latin typeface="Aptos"/>
              </a:rPr>
              <a:t>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55664"/>
            <a:ext cx="228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F5F5F"/>
                </a:solidFill>
                <a:latin typeface="Aptos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841248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918972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996696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74420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152144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29868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07592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85316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6303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54076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61848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69621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77393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851660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929384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00710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08483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162556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24027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231800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39572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247345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255117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262889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270662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278434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286207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293979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301751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309524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317296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325069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332841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340613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348386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356158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0" y="363931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0" y="371703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89120" y="379475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387248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395020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0" y="402793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10565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89120" y="418337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426110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89120" y="433882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89120" y="441655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89120" y="449427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89120" y="457199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89120" y="464972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89120" y="472744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89120" y="480517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89120" y="488289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89120" y="496061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89120" y="503834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89120" y="511606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89120" y="519379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89120" y="527151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0" y="534923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89120" y="542696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9120" y="550468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89120" y="558241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89120" y="566013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89120" y="573785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89120" y="581558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89120" y="589330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0" y="597103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89120" y="6048755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89120" y="6126479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389120" y="6204203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89120" y="6281927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389120" y="6359651"/>
            <a:ext cx="22860" cy="2286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01168" y="841248"/>
            <a:ext cx="4069080" cy="329184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1168" y="896112"/>
            <a:ext cx="4069080" cy="25603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DCP Diagnosis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37744" y="1243584"/>
            <a:ext cx="3995928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0B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1444752"/>
            <a:ext cx="11887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15" b="0" i="0">
                <a:solidFill>
                  <a:srgbClr val="60B058"/>
                </a:solidFill>
                <a:latin typeface="Apto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1444752"/>
            <a:ext cx="33375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5" b="0" i="0">
                <a:solidFill>
                  <a:srgbClr val="2D2D2D"/>
                </a:solidFill>
                <a:latin typeface="Aptos"/>
              </a:rPr>
              <a:t>LBO stress: 2016 acquisition via INTRA created a financial burden and cash upstream pressure.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1764792"/>
            <a:ext cx="11887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15" b="0" i="0">
                <a:solidFill>
                  <a:srgbClr val="60B058"/>
                </a:solidFill>
                <a:latin typeface="Aptos"/>
              </a:rP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1764792"/>
            <a:ext cx="33375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5" b="0" i="0">
                <a:solidFill>
                  <a:srgbClr val="2D2D2D"/>
                </a:solidFill>
                <a:latin typeface="Aptos"/>
              </a:rPr>
              <a:t>Commercial gap: prolonged absence of the commercial lead weakened pipeline and new business momentum.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2084832"/>
            <a:ext cx="11887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15" b="0" i="0">
                <a:solidFill>
                  <a:srgbClr val="60B058"/>
                </a:solidFill>
                <a:latin typeface="Aptos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" y="2084832"/>
            <a:ext cx="33375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5" b="0" i="0">
                <a:solidFill>
                  <a:srgbClr val="2D2D2D"/>
                </a:solidFill>
                <a:latin typeface="Aptos"/>
              </a:rPr>
              <a:t>Market pressure: communication budgets were cut first in a weaker macro environment.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2404872"/>
            <a:ext cx="11887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15" b="0" i="0">
                <a:solidFill>
                  <a:srgbClr val="60B058"/>
                </a:solidFill>
                <a:latin typeface="Aptos"/>
              </a:rP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2404872"/>
            <a:ext cx="33375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5" b="0" i="0">
                <a:solidFill>
                  <a:srgbClr val="2D2D2D"/>
                </a:solidFill>
                <a:latin typeface="Aptos"/>
              </a:rPr>
              <a:t>AI shock: clients increasingly believe they can produce simple content internally.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2724912"/>
            <a:ext cx="11887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15" b="0" i="0">
                <a:solidFill>
                  <a:srgbClr val="60B058"/>
                </a:solidFill>
                <a:latin typeface="Aptos"/>
              </a:rPr>
              <a:t>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" y="2724912"/>
            <a:ext cx="33375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5" b="0" i="0">
                <a:solidFill>
                  <a:srgbClr val="2D2D2D"/>
                </a:solidFill>
                <a:latin typeface="Aptos"/>
              </a:rPr>
              <a:t>Cost base mismatch: payroll remained sized for a higher revenue base, driving negative EBE.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1168" y="3337560"/>
            <a:ext cx="4069080" cy="329184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1168" y="3392424"/>
            <a:ext cx="4069080" cy="25603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Actions Already Undertaken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01168" y="3767328"/>
            <a:ext cx="4251960" cy="274320"/>
          </a:xfrm>
          <a:prstGeom prst="rect">
            <a:avLst/>
          </a:prstGeom>
          <a:solidFill>
            <a:srgbClr val="60B058"/>
          </a:solidFill>
          <a:ln>
            <a:solidFill>
              <a:srgbClr val="60B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7744" y="3831336"/>
            <a:ext cx="1801367" cy="2011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12264" y="3831336"/>
            <a:ext cx="2304288" cy="2011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Read-through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7744" y="4091939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85" b="1" i="0">
                <a:solidFill>
                  <a:srgbClr val="2D2D2D"/>
                </a:solidFill>
                <a:latin typeface="Aptos"/>
              </a:rPr>
              <a:t>Cost saving plan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12264" y="4091939"/>
            <a:ext cx="230428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85" b="0" i="0">
                <a:solidFill>
                  <a:srgbClr val="2D2D2D"/>
                </a:solidFill>
                <a:latin typeface="Aptos"/>
              </a:rPr>
              <a:t>2023-25 restructuring already started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1168" y="4306824"/>
            <a:ext cx="4251960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7744" y="4366259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85" b="1" i="0">
                <a:solidFill>
                  <a:srgbClr val="2D2D2D"/>
                </a:solidFill>
                <a:latin typeface="Aptos"/>
              </a:rPr>
              <a:t>Headcount reduction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12264" y="4366259"/>
            <a:ext cx="230428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85" b="0" i="0">
                <a:solidFill>
                  <a:srgbClr val="2D2D2D"/>
                </a:solidFill>
                <a:latin typeface="Aptos"/>
              </a:rPr>
              <a:t>21 employees in 2023 -&gt; 18-19 current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01168" y="4581144"/>
            <a:ext cx="4251960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37744" y="4640579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85" b="1" i="0">
                <a:solidFill>
                  <a:srgbClr val="2D2D2D"/>
                </a:solidFill>
                <a:latin typeface="Aptos"/>
              </a:rPr>
              <a:t>Subcontracting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12264" y="4640579"/>
            <a:ext cx="230428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85" b="0" i="0">
                <a:solidFill>
                  <a:srgbClr val="2D2D2D"/>
                </a:solidFill>
                <a:latin typeface="Aptos"/>
              </a:rPr>
              <a:t>External production partly variabilised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01168" y="4855464"/>
            <a:ext cx="4251960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37744" y="4914899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85" b="1" i="0">
                <a:solidFill>
                  <a:srgbClr val="2D2D2D"/>
                </a:solidFill>
                <a:latin typeface="Aptos"/>
              </a:rPr>
              <a:t>Management bonuses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12264" y="4914899"/>
            <a:ext cx="230428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85" b="0" i="0">
                <a:solidFill>
                  <a:srgbClr val="2D2D2D"/>
                </a:solidFill>
                <a:latin typeface="Aptos"/>
              </a:rPr>
              <a:t>Direction premiums removed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01168" y="5129783"/>
            <a:ext cx="4251960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37744" y="5189219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85" b="1" i="0">
                <a:solidFill>
                  <a:srgbClr val="2D2D2D"/>
                </a:solidFill>
                <a:latin typeface="Aptos"/>
              </a:rPr>
              <a:t>Commercial function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12264" y="5189219"/>
            <a:ext cx="230428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85" b="0" i="0">
                <a:solidFill>
                  <a:srgbClr val="2D2D2D"/>
                </a:solidFill>
                <a:latin typeface="Aptos"/>
              </a:rPr>
              <a:t>Reinforcement attempted, to be challenged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01168" y="5404103"/>
            <a:ext cx="4251960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535424" y="841248"/>
            <a:ext cx="7452360" cy="329184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535424" y="896112"/>
            <a:ext cx="7452360" cy="25603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Repreneur Thesis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535424" y="1261872"/>
            <a:ext cx="7452360" cy="457200"/>
          </a:xfrm>
          <a:prstGeom prst="roundRect">
            <a:avLst/>
          </a:prstGeom>
          <a:solidFill>
            <a:srgbClr val="E2EBF7"/>
          </a:solidFill>
          <a:ln w="11430">
            <a:solidFill>
              <a:srgbClr val="60B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45152" y="1353312"/>
            <a:ext cx="7232904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4" b="0" i="0">
                <a:solidFill>
                  <a:srgbClr val="2D2D2D"/>
                </a:solidFill>
                <a:latin typeface="Aptos"/>
              </a:rPr>
              <a:t>This is not a clean stand-alone agency acquisition. It is a relaunch of a regional platform with preserved gross margin, historical revenue capacity, a reduced employee base and identifiable break-even levers.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35424" y="1901952"/>
            <a:ext cx="7452360" cy="329184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535424" y="1956816"/>
            <a:ext cx="7452360" cy="25603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Value Creation Levers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35424" y="2404872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03520" y="2441448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Return to break-even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44383" y="2423160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Rebuild toward €2.4-2.6m revenue; recent annualised base c. €1.8m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35424" y="2798064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535424" y="2889504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03520" y="2926080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Commercial relaunch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44383" y="2907792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Recover part of the historical c. €3.0m revenue capacity through B2B accounts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35424" y="3282696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535424" y="3374136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303520" y="3410712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Cost recalibration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44383" y="3392424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Define a viable transferred perimeter around 18-19 employees or less, subject to project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35424" y="3767328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535424" y="3858768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303520" y="3895344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AI / content repositioning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644383" y="3877056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Move away from commoditised production toward video, employer branding, workflows and advisory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535424" y="4251960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35424" y="4343400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60B058"/>
                </a:solidFill>
                <a:latin typeface="Aptos"/>
              </a:rPr>
              <a:t>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03520" y="4379976"/>
            <a:ext cx="2240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90" b="1" i="0">
                <a:solidFill>
                  <a:srgbClr val="2D2D2D"/>
                </a:solidFill>
                <a:latin typeface="Aptos"/>
              </a:rPr>
              <a:t>Balance sheet reset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644383" y="4361688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25" b="0" i="0">
                <a:solidFill>
                  <a:srgbClr val="2D2D2D"/>
                </a:solidFill>
                <a:latin typeface="Aptos"/>
              </a:rPr>
              <a:t>Historical PGE c. €850k not expected to transfer; limited direct L.642-12 charge c. €9.8k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535424" y="4736592"/>
            <a:ext cx="7452360" cy="889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535424" y="5093208"/>
            <a:ext cx="7452360" cy="329184"/>
          </a:xfrm>
          <a:prstGeom prst="rect">
            <a:avLst/>
          </a:prstGeom>
          <a:solidFill>
            <a:srgbClr val="24497A"/>
          </a:solidFill>
          <a:ln>
            <a:solidFill>
              <a:srgbClr val="244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535424" y="5148072"/>
            <a:ext cx="7452360" cy="25603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Key Confirmations Before Offer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535424" y="5513832"/>
            <a:ext cx="7406640" cy="274320"/>
          </a:xfrm>
          <a:prstGeom prst="rect">
            <a:avLst/>
          </a:prstGeom>
          <a:solidFill>
            <a:srgbClr val="60B058"/>
          </a:solidFill>
          <a:ln>
            <a:solidFill>
              <a:srgbClr val="60B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572000" y="5577840"/>
            <a:ext cx="1709928" cy="2011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Procedure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355080" y="5577840"/>
            <a:ext cx="1801367" cy="2011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Contracts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229600" y="5577840"/>
            <a:ext cx="1801367" cy="2011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Lease / assets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104120" y="5577840"/>
            <a:ext cx="1801367" cy="2011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Social / IP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2000" y="5838444"/>
            <a:ext cx="170992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35" b="1" i="0">
                <a:solidFill>
                  <a:srgbClr val="2D2D2D"/>
                </a:solidFill>
                <a:latin typeface="Aptos"/>
              </a:rPr>
              <a:t>Sauvegarde route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355080" y="5838444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35" b="0" i="0">
                <a:solidFill>
                  <a:srgbClr val="2D2D2D"/>
                </a:solidFill>
                <a:latin typeface="Aptos"/>
              </a:rPr>
              <a:t>Transferable clients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229600" y="5838444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35" b="0" i="0">
                <a:solidFill>
                  <a:srgbClr val="2D2D2D"/>
                </a:solidFill>
                <a:latin typeface="Aptos"/>
              </a:rPr>
              <a:t>Strasbourg lease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104120" y="5838444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35" b="0" i="0">
                <a:solidFill>
                  <a:srgbClr val="2D2D2D"/>
                </a:solidFill>
                <a:latin typeface="Aptos"/>
              </a:rPr>
              <a:t>Updated headcount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535424" y="6053328"/>
            <a:ext cx="7406640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72000" y="6112764"/>
            <a:ext cx="170992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35" b="1" i="0">
                <a:solidFill>
                  <a:srgbClr val="2D2D2D"/>
                </a:solidFill>
                <a:latin typeface="Aptos"/>
              </a:rPr>
              <a:t>RJ / asset sale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355080" y="6112764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35" b="0" i="0">
                <a:solidFill>
                  <a:srgbClr val="2D2D2D"/>
                </a:solidFill>
                <a:latin typeface="Aptos"/>
              </a:rPr>
              <a:t>Concentration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29600" y="6112764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35" b="0" i="0">
                <a:solidFill>
                  <a:srgbClr val="2D2D2D"/>
                </a:solidFill>
                <a:latin typeface="Aptos"/>
              </a:rPr>
              <a:t>Sold assets list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104120" y="6112764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35" b="0" i="0">
                <a:solidFill>
                  <a:srgbClr val="2D2D2D"/>
                </a:solidFill>
                <a:latin typeface="Aptos"/>
              </a:rPr>
              <a:t>Paid leave / CSE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35424" y="6327648"/>
            <a:ext cx="7406640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572000" y="6387083"/>
            <a:ext cx="170992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35" b="1" i="0">
                <a:solidFill>
                  <a:srgbClr val="2D2D2D"/>
                </a:solidFill>
                <a:latin typeface="Aptos"/>
              </a:rPr>
              <a:t>Deadline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355080" y="6387083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35" b="0" i="0">
                <a:solidFill>
                  <a:srgbClr val="2D2D2D"/>
                </a:solidFill>
                <a:latin typeface="Aptos"/>
              </a:rPr>
              <a:t>Recurring revenue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229600" y="6387083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35" b="0" i="0">
                <a:solidFill>
                  <a:srgbClr val="2D2D2D"/>
                </a:solidFill>
                <a:latin typeface="Aptos"/>
              </a:rPr>
              <a:t>Leasing claims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104120" y="6387083"/>
            <a:ext cx="1801367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35" b="0" i="0">
                <a:solidFill>
                  <a:srgbClr val="2D2D2D"/>
                </a:solidFill>
                <a:latin typeface="Aptos"/>
              </a:rPr>
              <a:t>Brands / domains / file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535424" y="6601968"/>
            <a:ext cx="7406640" cy="7620"/>
          </a:xfrm>
          <a:prstGeom prst="rect">
            <a:avLst/>
          </a:prstGeom>
          <a:solidFill>
            <a:srgbClr val="737373"/>
          </a:solidFill>
          <a:ln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535424" y="6419088"/>
            <a:ext cx="74523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10" b="0" i="1">
                <a:solidFill>
                  <a:srgbClr val="5F5F5F"/>
                </a:solidFill>
                <a:latin typeface="Aptos"/>
              </a:rPr>
              <a:t>Disclaimer: preliminary and confidential teaser; not an offer, not an information memorandum,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
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828800" y="1463040"/>
            <a:ext cx="8503920" cy="914400"/>
          </a:xfrm>
          <a:prstGeom prst="rect">
            <a:avLst/>
          </a:prstGeom>
          <a:noFill/>
        </p:spPr>
        <p:txBody>
          <a:bodyPr wrap="square">
            <a:spAutoFit/>
          </a:bodyPr>
          <a:lstStyle/>
          <a:p>
            <a:pPr algn="ctr">
              <a:lnSpc>
                <a:spcPts val="3780"/>
              </a:lnSpc>
              <a:spcBef>
                <a:spcPts val="0"/>
              </a:spcBef>
              <a:spcAft>
                <a:spcPts val="0"/>
              </a:spcAft>
              <a:defRPr sz="2800" b="1" i="0">
                <a:solidFill>
                  <a:srgbClr val="000000"/>
                </a:solidFill>
                <a:latin typeface="CMU Serif"/>
              </a:defRPr>
            </a:pPr>
            <a:r>
              <a:t>Note d'analyse stratégique</a:t>
            </a:r>
          </a:p>
        </p:txBody>
      </p:sp>
      <p:sp>
        <p:nvSpPr>
          <p:cNvPr id="3" name="TextBox 2"/>
          <p:cNvSpPr txBox="1"/>
          <p:nvPr/>
        </p:nvSpPr>
        <p:spPr>
          <a:xfrm>
            <a:off x="1371600" y="2560320"/>
            <a:ext cx="9418320" cy="2286000"/>
          </a:xfrm>
          <a:prstGeom prst="rect">
            <a:avLst/>
          </a:prstGeom>
          <a:noFill/>
        </p:spPr>
        <p:txBody>
          <a:bodyPr wrap="square">
            <a:spAutoFit/>
          </a:bodyPr>
          <a:lstStyle/>
          <a:p>
            <a:pPr algn="ctr">
              <a:lnSpc>
                <a:spcPts val="2160"/>
              </a:lnSpc>
              <a:spcBef>
                <a:spcPts val="0"/>
              </a:spcBef>
              <a:spcAft>
                <a:spcPts val="0"/>
              </a:spcAft>
              <a:defRPr sz="1600" b="0" i="0">
                <a:solidFill>
                  <a:srgbClr val="000000"/>
                </a:solidFill>
                <a:latin typeface="CMU Serif"/>
              </a:defRPr>
            </a:pPr>
          </a:p>
          <a:p>
            <a:pPr algn="ctr">
              <a:spcBef>
                <a:spcPts val="0"/>
              </a:spcBef>
              <a:spcAft>
                <a:spcPts val="0"/>
              </a:spcAft>
              <a:defRPr sz="1600" b="0" i="0">
                <a:solidFill>
                  <a:srgbClr val="000000"/>
                </a:solidFill>
                <a:latin typeface="CMU Serif"/>
              </a:defRPr>
            </a:pPr>
            <a:r>
              <a:t>Thèse de reprise et scénarios de création de valeur</a:t>
            </a:r>
          </a:p>
          <a:p>
            <a:pPr algn="l">
              <a:spcBef>
                <a:spcPts val="0"/>
              </a:spcBef>
              <a:spcAft>
                <a:spcPts val="0"/>
              </a:spcAft>
              <a:defRPr sz="1200" b="0" i="0">
                <a:solidFill>
                  <a:srgbClr val="000000"/>
                </a:solidFill>
                <a:latin typeface="CMU Serif"/>
              </a:defRPr>
            </a:pPr>
          </a:p>
          <a:p>
            <a:pPr algn="ctr">
              <a:spcBef>
                <a:spcPts val="0"/>
              </a:spcBef>
              <a:spcAft>
                <a:spcPts val="0"/>
              </a:spcAft>
              <a:defRPr sz="1400" b="0" i="0">
                <a:solidFill>
                  <a:srgbClr val="555555"/>
                </a:solidFill>
                <a:latin typeface="CMU Serif"/>
              </a:defRPr>
            </a:pPr>
            <a:r>
              <a:t>Éditeur français de logiciel de gestion documentaire et de facturation électronique</a:t>
            </a:r>
          </a:p>
          <a:p>
            <a:pPr algn="ctr">
              <a:spcBef>
                <a:spcPts val="0"/>
              </a:spcBef>
              <a:spcAft>
                <a:spcPts val="0"/>
              </a:spcAft>
              <a:defRPr sz="1400" b="0" i="0">
                <a:solidFill>
                  <a:srgbClr val="555555"/>
                </a:solidFill>
                <a:latin typeface="CMU Serif"/>
              </a:defRPr>
            </a:pPr>
            <a:r>
              <a:t>Plan de cession ouvert</a:t>
            </a:r>
          </a:p>
          <a:p>
            <a:pPr algn="l">
              <a:spcBef>
                <a:spcPts val="0"/>
              </a:spcBef>
              <a:spcAft>
                <a:spcPts val="0"/>
              </a:spcAft>
              <a:defRPr sz="1200" b="0" i="0">
                <a:solidFill>
                  <a:srgbClr val="000000"/>
                </a:solidFill>
                <a:latin typeface="CMU Serif"/>
              </a:defRPr>
            </a:pPr>
          </a:p>
          <a:p>
            <a:pPr algn="ctr">
              <a:spcBef>
                <a:spcPts val="1200"/>
              </a:spcBef>
              <a:spcAft>
                <a:spcPts val="0"/>
              </a:spcAft>
              <a:defRPr sz="1400" b="0" i="0">
                <a:solidFill>
                  <a:srgbClr val="000000"/>
                </a:solidFill>
                <a:latin typeface="CMU Serif"/>
              </a:defRPr>
            </a:pPr>
            <a:r>
              <a:t>Brantham Partners, Conseil M&amp;A distressed</a:t>
            </a:r>
          </a:p>
          <a:p>
            <a:pPr algn="ctr">
              <a:spcBef>
                <a:spcPts val="0"/>
              </a:spcBef>
              <a:spcAft>
                <a:spcPts val="0"/>
              </a:spcAft>
              <a:defRPr sz="1400" b="0" i="0">
                <a:solidFill>
                  <a:srgbClr val="000000"/>
                </a:solidFill>
                <a:latin typeface="CMU Serif"/>
              </a:defRPr>
            </a:pPr>
            <a:r>
              <a:t>2026-05-20</a:t>
            </a:r>
          </a:p>
        </p:txBody>
      </p:sp>
      <p:sp>
        <p:nvSpPr>
          <p:cNvPr id="4" name="TextBox 3"/>
          <p:cNvSpPr txBox="1"/>
          <p:nvPr/>
        </p:nvSpPr>
        <p:spPr>
          <a:xfrm>
            <a:off x="1828800" y="5486400"/>
            <a:ext cx="8503920" cy="548640"/>
          </a:xfrm>
          <a:prstGeom prst="rect">
            <a:avLst/>
          </a:prstGeom>
          <a:noFill/>
        </p:spPr>
        <p:txBody>
          <a:bodyPr wrap="square">
            <a:spAutoFit/>
          </a:bodyPr>
          <a:lstStyle/>
          <a:p>
            <a:pPr algn="ctr">
              <a:lnSpc>
                <a:spcPts val="1350"/>
              </a:lnSpc>
              <a:spcBef>
                <a:spcPts val="0"/>
              </a:spcBef>
              <a:spcAft>
                <a:spcPts val="0"/>
              </a:spcAft>
              <a:defRPr sz="1000" b="0" i="1">
                <a:solidFill>
                  <a:srgbClr val="555555"/>
                </a:solidFill>
                <a:latin typeface="CMU Serif"/>
              </a:defRPr>
            </a:pPr>
            <a:r>
              <a:t>Document confidentiel, communiqué au repreneur dans le cadre de notre mandat de représentation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698480" cy="548640"/>
          </a:xfrm>
          <a:prstGeom prst="rect">
            <a:avLst/>
          </a:prstGeom>
          <a:noFill/>
        </p:spPr>
        <p:txBody>
          <a:bodyPr wrap="square">
            <a:spAutoFit/>
          </a:bodyPr>
          <a:lstStyle/>
          <a:p>
            <a:pPr algn="l">
              <a:lnSpc>
                <a:spcPts val="2970"/>
              </a:lnSpc>
              <a:spcBef>
                <a:spcPts val="0"/>
              </a:spcBef>
              <a:spcAft>
                <a:spcPts val="0"/>
              </a:spcAft>
              <a:defRPr sz="2200" b="1" i="0">
                <a:solidFill>
                  <a:srgbClr val="000000"/>
                </a:solidFill>
                <a:latin typeface="CMU Serif"/>
              </a:defRPr>
            </a:pPr>
            <a:r>
              <a:t>1. L'opportunité en bref</a:t>
            </a:r>
          </a:p>
        </p:txBody>
      </p:sp>
      <p:sp>
        <p:nvSpPr>
          <p:cNvPr id="3" name="Rectangle 2"/>
          <p:cNvSpPr/>
          <p:nvPr/>
        </p:nvSpPr>
        <p:spPr>
          <a:xfrm>
            <a:off x="731520" y="1005840"/>
            <a:ext cx="10332720" cy="63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325880"/>
          <a:ext cx="10698479" cy="3200400"/>
        </p:xfrm>
        <a:graphic>
          <a:graphicData uri="http://schemas.openxmlformats.org/drawingml/2006/table">
            <a:tbl>
              <a:tblPr firstRow="1" bandRow="1">
                <a:tableStyleId>{5C22544A-7EE6-4342-B048-85BDC9FD1C3A}</a:tableStyleId>
              </a:tblPr>
              <a:tblGrid>
                <a:gridCol w="6954012"/>
                <a:gridCol w="3744467"/>
              </a:tblGrid>
              <a:tr h="320040">
                <a:tc>
                  <a:txBody>
                    <a:bodyPr/>
                    <a:lstStyle/>
                    <a:p>
                      <a:pPr>
                        <a:defRPr sz="1100" b="1">
                          <a:solidFill>
                            <a:srgbClr val="000000"/>
                          </a:solidFill>
                          <a:latin typeface="CMU Serif"/>
                        </a:defRPr>
                      </a:pPr>
                      <a:r>
                        <a:t>Indicateur</a:t>
                      </a:r>
                    </a:p>
                  </a:txBody>
                  <a:tcPr>
                    <a:lnT w="19050">
                      <a:solidFill>
                        <a:srgbClr val="000000"/>
                      </a:solidFill>
                    </a:lnT>
                    <a:lnB w="9525">
                      <a:solidFill>
                        <a:srgbClr val="000000"/>
                      </a:solidFill>
                    </a:lnB>
                  </a:tcPr>
                </a:tc>
                <a:tc>
                  <a:txBody>
                    <a:bodyPr/>
                    <a:lstStyle/>
                    <a:p>
                      <a:pPr algn="r">
                        <a:defRPr sz="1100" b="1">
                          <a:solidFill>
                            <a:srgbClr val="000000"/>
                          </a:solidFill>
                          <a:latin typeface="CMU Serif"/>
                        </a:defRPr>
                      </a:pPr>
                      <a:r>
                        <a:t>Ordre de grandeur</a:t>
                      </a:r>
                    </a:p>
                  </a:txBody>
                  <a:tcPr>
                    <a:lnT w="19050">
                      <a:solidFill>
                        <a:srgbClr val="000000"/>
                      </a:solidFill>
                    </a:lnT>
                    <a:lnB w="9525">
                      <a:solidFill>
                        <a:srgbClr val="000000"/>
                      </a:solidFill>
                    </a:lnB>
                  </a:tcPr>
                </a:tc>
              </a:tr>
              <a:tr h="320040">
                <a:tc>
                  <a:txBody>
                    <a:bodyPr/>
                    <a:lstStyle/>
                    <a:p>
                      <a:pPr>
                        <a:defRPr sz="1100" b="0">
                          <a:solidFill>
                            <a:srgbClr val="000000"/>
                          </a:solidFill>
                          <a:latin typeface="CMU Serif"/>
                        </a:defRPr>
                      </a:pPr>
                      <a:r>
                        <a:t>Chiffre d'affaires (facturation brute)</a:t>
                      </a:r>
                    </a:p>
                  </a:txBody>
                  <a:tcPr/>
                </a:tc>
                <a:tc>
                  <a:txBody>
                    <a:bodyPr/>
                    <a:lstStyle/>
                    <a:p>
                      <a:pPr algn="r">
                        <a:defRPr sz="1100" b="0">
                          <a:solidFill>
                            <a:srgbClr val="000000"/>
                          </a:solidFill>
                          <a:latin typeface="CMU Serif"/>
                        </a:defRPr>
                      </a:pPr>
                      <a:r>
                        <a:t>de l'ordre de 9 M€ *</a:t>
                      </a:r>
                    </a:p>
                  </a:txBody>
                  <a:tcPr/>
                </a:tc>
              </a:tr>
              <a:tr h="320040">
                <a:tc>
                  <a:txBody>
                    <a:bodyPr/>
                    <a:lstStyle/>
                    <a:p>
                      <a:pPr>
                        <a:defRPr sz="1100" b="0">
                          <a:solidFill>
                            <a:srgbClr val="000000"/>
                          </a:solidFill>
                          <a:latin typeface="CMU Serif"/>
                        </a:defRPr>
                      </a:pPr>
                      <a:r>
                        <a:t>Revenu récurrent (abonnements et licences cloud)</a:t>
                      </a:r>
                    </a:p>
                  </a:txBody>
                  <a:tcPr/>
                </a:tc>
                <a:tc>
                  <a:txBody>
                    <a:bodyPr/>
                    <a:lstStyle/>
                    <a:p>
                      <a:pPr algn="r">
                        <a:defRPr sz="1100" b="0">
                          <a:solidFill>
                            <a:srgbClr val="000000"/>
                          </a:solidFill>
                          <a:latin typeface="CMU Serif"/>
                        </a:defRPr>
                      </a:pPr>
                      <a:r>
                        <a:t>de l'ordre de 7 à 7,5 M€, soit ~ 85 % du CA</a:t>
                      </a:r>
                    </a:p>
                  </a:txBody>
                  <a:tcPr/>
                </a:tc>
              </a:tr>
              <a:tr h="320040">
                <a:tc>
                  <a:txBody>
                    <a:bodyPr/>
                    <a:lstStyle/>
                    <a:p>
                      <a:pPr>
                        <a:defRPr sz="1100" b="0">
                          <a:solidFill>
                            <a:srgbClr val="000000"/>
                          </a:solidFill>
                          <a:latin typeface="CMU Serif"/>
                        </a:defRPr>
                      </a:pPr>
                      <a:r>
                        <a:t>Prestations (déploiement, maintenance, formation)</a:t>
                      </a:r>
                    </a:p>
                  </a:txBody>
                  <a:tcPr/>
                </a:tc>
                <a:tc>
                  <a:txBody>
                    <a:bodyPr/>
                    <a:lstStyle/>
                    <a:p>
                      <a:pPr algn="r">
                        <a:defRPr sz="1100" b="0">
                          <a:solidFill>
                            <a:srgbClr val="000000"/>
                          </a:solidFill>
                          <a:latin typeface="CMU Serif"/>
                        </a:defRPr>
                      </a:pPr>
                      <a:r>
                        <a:t>~ 15 % du CA</a:t>
                      </a:r>
                    </a:p>
                  </a:txBody>
                  <a:tcPr/>
                </a:tc>
              </a:tr>
              <a:tr h="320040">
                <a:tc>
                  <a:txBody>
                    <a:bodyPr/>
                    <a:lstStyle/>
                    <a:p>
                      <a:pPr>
                        <a:defRPr sz="1100" b="0">
                          <a:solidFill>
                            <a:srgbClr val="000000"/>
                          </a:solidFill>
                          <a:latin typeface="CMU Serif"/>
                        </a:defRPr>
                      </a:pPr>
                      <a:r>
                        <a:t>Base installée</a:t>
                      </a:r>
                    </a:p>
                  </a:txBody>
                  <a:tcPr/>
                </a:tc>
                <a:tc>
                  <a:txBody>
                    <a:bodyPr/>
                    <a:lstStyle/>
                    <a:p>
                      <a:pPr algn="r">
                        <a:defRPr sz="1100" b="0">
                          <a:solidFill>
                            <a:srgbClr val="000000"/>
                          </a:solidFill>
                          <a:latin typeface="CMU Serif"/>
                        </a:defRPr>
                      </a:pPr>
                      <a:r>
                        <a:t>~ 3 000 clients actifs, 250 000+ utilisateurs</a:t>
                      </a:r>
                    </a:p>
                  </a:txBody>
                  <a:tcPr/>
                </a:tc>
              </a:tr>
              <a:tr h="320040">
                <a:tc>
                  <a:txBody>
                    <a:bodyPr/>
                    <a:lstStyle/>
                    <a:p>
                      <a:pPr>
                        <a:defRPr sz="1100" b="0">
                          <a:solidFill>
                            <a:srgbClr val="000000"/>
                          </a:solidFill>
                          <a:latin typeface="CMU Serif"/>
                        </a:defRPr>
                      </a:pPr>
                      <a:r>
                        <a:t>Réseau de distribution</a:t>
                      </a:r>
                    </a:p>
                  </a:txBody>
                  <a:tcPr/>
                </a:tc>
                <a:tc>
                  <a:txBody>
                    <a:bodyPr/>
                    <a:lstStyle/>
                    <a:p>
                      <a:pPr algn="r">
                        <a:defRPr sz="1100" b="0">
                          <a:solidFill>
                            <a:srgbClr val="000000"/>
                          </a:solidFill>
                          <a:latin typeface="CMU Serif"/>
                        </a:defRPr>
                      </a:pPr>
                      <a:r>
                        <a:t>~ 60 partenaires distributeurs</a:t>
                      </a:r>
                    </a:p>
                  </a:txBody>
                  <a:tcPr/>
                </a:tc>
              </a:tr>
              <a:tr h="320040">
                <a:tc>
                  <a:txBody>
                    <a:bodyPr/>
                    <a:lstStyle/>
                    <a:p>
                      <a:pPr>
                        <a:defRPr sz="1100" b="0">
                          <a:solidFill>
                            <a:srgbClr val="000000"/>
                          </a:solidFill>
                          <a:latin typeface="CMU Serif"/>
                        </a:defRPr>
                      </a:pPr>
                      <a:r>
                        <a:t>Effectif</a:t>
                      </a:r>
                    </a:p>
                  </a:txBody>
                  <a:tcPr/>
                </a:tc>
                <a:tc>
                  <a:txBody>
                    <a:bodyPr/>
                    <a:lstStyle/>
                    <a:p>
                      <a:pPr algn="r">
                        <a:defRPr sz="1100" b="0">
                          <a:solidFill>
                            <a:srgbClr val="000000"/>
                          </a:solidFill>
                          <a:latin typeface="CMU Serif"/>
                        </a:defRPr>
                      </a:pPr>
                      <a:r>
                        <a:t>équipe d'une cinquantaine de personnes</a:t>
                      </a:r>
                    </a:p>
                  </a:txBody>
                  <a:tcPr/>
                </a:tc>
              </a:tr>
              <a:tr h="320040">
                <a:tc>
                  <a:txBody>
                    <a:bodyPr/>
                    <a:lstStyle/>
                    <a:p>
                      <a:pPr>
                        <a:defRPr sz="1100" b="0">
                          <a:solidFill>
                            <a:srgbClr val="000000"/>
                          </a:solidFill>
                          <a:latin typeface="CMU Serif"/>
                        </a:defRPr>
                      </a:pPr>
                      <a:r>
                        <a:t>Passif non repris</a:t>
                      </a:r>
                    </a:p>
                  </a:txBody>
                  <a:tcPr/>
                </a:tc>
                <a:tc>
                  <a:txBody>
                    <a:bodyPr/>
                    <a:lstStyle/>
                    <a:p>
                      <a:pPr algn="r">
                        <a:defRPr sz="1100" b="0">
                          <a:solidFill>
                            <a:srgbClr val="000000"/>
                          </a:solidFill>
                          <a:latin typeface="CMU Serif"/>
                        </a:defRPr>
                      </a:pPr>
                      <a:r>
                        <a:t>plusieurs millions d'euros, laissés à la procédure</a:t>
                      </a:r>
                    </a:p>
                  </a:txBody>
                  <a:tcPr/>
                </a:tc>
              </a:tr>
              <a:tr h="320040">
                <a:tc>
                  <a:txBody>
                    <a:bodyPr/>
                    <a:lstStyle/>
                    <a:p>
                      <a:pPr>
                        <a:defRPr sz="1100" b="0">
                          <a:solidFill>
                            <a:srgbClr val="000000"/>
                          </a:solidFill>
                          <a:latin typeface="CMU Serif"/>
                        </a:defRPr>
                      </a:pPr>
                      <a:r>
                        <a:t>Actif corporel</a:t>
                      </a:r>
                    </a:p>
                  </a:txBody>
                  <a:tcPr/>
                </a:tc>
                <a:tc>
                  <a:txBody>
                    <a:bodyPr/>
                    <a:lstStyle/>
                    <a:p>
                      <a:pPr algn="r">
                        <a:defRPr sz="1100" b="0">
                          <a:solidFill>
                            <a:srgbClr val="000000"/>
                          </a:solidFill>
                          <a:latin typeface="CMU Serif"/>
                        </a:defRPr>
                      </a:pPr>
                      <a:r>
                        <a:t>marginal, la valeur est quasi intégralement immatérielle</a:t>
                      </a:r>
                    </a:p>
                  </a:txBody>
                  <a:tcPr/>
                </a:tc>
              </a:tr>
              <a:tr h="320040">
                <a:tc>
                  <a:txBody>
                    <a:bodyPr/>
                    <a:lstStyle/>
                    <a:p>
                      <a:pPr>
                        <a:defRPr sz="1100" b="0">
                          <a:solidFill>
                            <a:srgbClr val="000000"/>
                          </a:solidFill>
                          <a:latin typeface="CMU Serif"/>
                        </a:defRPr>
                      </a:pPr>
                      <a:r>
                        <a:t>Statut réglementaire</a:t>
                      </a:r>
                    </a:p>
                  </a:txBody>
                  <a:tcPr>
                    <a:lnB w="19050">
                      <a:solidFill>
                        <a:srgbClr val="000000"/>
                      </a:solidFill>
                    </a:lnB>
                  </a:tcPr>
                </a:tc>
                <a:tc>
                  <a:txBody>
                    <a:bodyPr/>
                    <a:lstStyle/>
                    <a:p>
                      <a:pPr algn="r">
                        <a:defRPr sz="1100" b="0">
                          <a:solidFill>
                            <a:srgbClr val="000000"/>
                          </a:solidFill>
                          <a:latin typeface="CMU Serif"/>
                        </a:defRPr>
                      </a:pPr>
                      <a:r>
                        <a:t>plateforme agréée facture électronique (agrément 2026)</a:t>
                      </a:r>
                    </a:p>
                  </a:txBody>
                  <a:tcPr>
                    <a:lnB w="19050">
                      <a:solidFill>
                        <a:srgbClr val="000000"/>
                      </a:solidFill>
                    </a:lnB>
                  </a:tcPr>
                </a:tc>
              </a:tr>
            </a:tbl>
          </a:graphicData>
        </a:graphic>
      </p:graphicFrame>
      <p:sp>
        <p:nvSpPr>
          <p:cNvPr id="5" name="TextBox 4"/>
          <p:cNvSpPr txBox="1"/>
          <p:nvPr/>
        </p:nvSpPr>
        <p:spPr>
          <a:xfrm>
            <a:off x="731520" y="4663440"/>
            <a:ext cx="10698480" cy="457200"/>
          </a:xfrm>
          <a:prstGeom prst="rect">
            <a:avLst/>
          </a:prstGeom>
          <a:noFill/>
        </p:spPr>
        <p:txBody>
          <a:bodyPr wrap="square">
            <a:spAutoFit/>
          </a:bodyPr>
          <a:lstStyle/>
          <a:p>
            <a:pPr algn="l">
              <a:lnSpc>
                <a:spcPts val="1215"/>
              </a:lnSpc>
              <a:spcBef>
                <a:spcPts val="0"/>
              </a:spcBef>
              <a:spcAft>
                <a:spcPts val="0"/>
              </a:spcAft>
              <a:defRPr sz="900" b="0" i="1">
                <a:solidFill>
                  <a:srgbClr val="555555"/>
                </a:solidFill>
                <a:latin typeface="CMU Serif"/>
              </a:defRPr>
            </a:pPr>
            <a:r>
              <a:t>* Les comptes publiés font l'objet de retraitements. Notre analyse reconstruit le CA et la rentabilité réels.</a:t>
            </a:r>
          </a:p>
        </p:txBody>
      </p:sp>
      <p:sp>
        <p:nvSpPr>
          <p:cNvPr id="6" name="TextBox 5"/>
          <p:cNvSpPr txBox="1"/>
          <p:nvPr/>
        </p:nvSpPr>
        <p:spPr>
          <a:xfrm>
            <a:off x="731520" y="4892040"/>
            <a:ext cx="10698480" cy="1828800"/>
          </a:xfrm>
          <a:prstGeom prst="rect">
            <a:avLst/>
          </a:prstGeom>
          <a:noFill/>
        </p:spPr>
        <p:txBody>
          <a:bodyPr wrap="square">
            <a:spAutoFit/>
          </a:bodyPr>
          <a:lstStyle/>
          <a:p>
            <a:pPr algn="l">
              <a:lnSpc>
                <a:spcPts val="1620"/>
              </a:lnSpc>
              <a:spcBef>
                <a:spcPts val="0"/>
              </a:spcBef>
              <a:spcAft>
                <a:spcPts val="0"/>
              </a:spcAft>
              <a:defRPr sz="1200" b="0" i="0">
                <a:solidFill>
                  <a:srgbClr val="000000"/>
                </a:solidFill>
                <a:latin typeface="CMU Serif"/>
              </a:defRPr>
            </a:pPr>
            <a:r>
              <a:t>La restructuration sociale est déjà engagée par la procédure. Le passif n'est pas repris : il reste à la charge de la procédure. Le repreneur acquiert donc une base de revenus récurrents et un actif réglementaire, sans le poids financier qui a conduit la société en difficulté.</a:t>
            </a:r>
          </a:p>
        </p:txBody>
      </p:sp>
      <p:sp>
        <p:nvSpPr>
          <p:cNvPr id="7" name="Rectangle 6"/>
          <p:cNvSpPr/>
          <p:nvPr/>
        </p:nvSpPr>
        <p:spPr>
          <a:xfrm>
            <a:off x="731520" y="6217920"/>
            <a:ext cx="10332720" cy="63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09360"/>
            <a:ext cx="10698480" cy="365760"/>
          </a:xfrm>
          <a:prstGeom prst="rect">
            <a:avLst/>
          </a:prstGeom>
          <a:noFill/>
        </p:spPr>
        <p:txBody>
          <a:bodyPr wrap="square">
            <a:spAutoFit/>
          </a:bodyPr>
          <a:lstStyle/>
          <a:p>
            <a:pPr algn="ctr">
              <a:lnSpc>
                <a:spcPts val="1215"/>
              </a:lnSpc>
              <a:spcBef>
                <a:spcPts val="0"/>
              </a:spcBef>
              <a:spcAft>
                <a:spcPts val="0"/>
              </a:spcAft>
              <a:defRPr sz="900" b="0" i="1">
                <a:solidFill>
                  <a:srgbClr val="555555"/>
                </a:solidFill>
                <a:latin typeface="CMU Serif"/>
              </a:defRPr>
            </a:pPr>
            <a:r>
              <a:t>Confidentiel — Brantham Partners — paul.roulleau@branthampartners.fr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698480" cy="548640"/>
          </a:xfrm>
          <a:prstGeom prst="rect">
            <a:avLst/>
          </a:prstGeom>
          <a:noFill/>
        </p:spPr>
        <p:txBody>
          <a:bodyPr wrap="square">
            <a:spAutoFit/>
          </a:bodyPr>
          <a:lstStyle/>
          <a:p>
            <a:pPr algn="l">
              <a:lnSpc>
                <a:spcPts val="2970"/>
              </a:lnSpc>
              <a:spcBef>
                <a:spcPts val="0"/>
              </a:spcBef>
              <a:spcAft>
                <a:spcPts val="0"/>
              </a:spcAft>
              <a:defRPr sz="2200" b="1" i="0">
                <a:solidFill>
                  <a:srgbClr val="000000"/>
                </a:solidFill>
                <a:latin typeface="CMU Serif"/>
              </a:defRPr>
            </a:pPr>
            <a:r>
              <a:t>2. La thèse de reprise : où est la valeur</a:t>
            </a:r>
          </a:p>
        </p:txBody>
      </p:sp>
      <p:sp>
        <p:nvSpPr>
          <p:cNvPr id="3" name="Rectangle 2"/>
          <p:cNvSpPr/>
          <p:nvPr/>
        </p:nvSpPr>
        <p:spPr>
          <a:xfrm>
            <a:off x="731520" y="1005840"/>
            <a:ext cx="10332720" cy="63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698480" cy="914400"/>
          </a:xfrm>
          <a:prstGeom prst="rect">
            <a:avLst/>
          </a:prstGeom>
          <a:noFill/>
        </p:spPr>
        <p:txBody>
          <a:bodyPr wrap="square">
            <a:spAutoFit/>
          </a:bodyPr>
          <a:lstStyle/>
          <a:p>
            <a:pPr algn="l">
              <a:lnSpc>
                <a:spcPts val="1620"/>
              </a:lnSpc>
              <a:spcBef>
                <a:spcPts val="0"/>
              </a:spcBef>
              <a:spcAft>
                <a:spcPts val="0"/>
              </a:spcAft>
              <a:defRPr sz="1200" b="0" i="0">
                <a:solidFill>
                  <a:srgbClr val="000000"/>
                </a:solidFill>
                <a:latin typeface="CMU Serif"/>
              </a:defRPr>
            </a:pPr>
            <a:r>
              <a:t>La cible est en difficulté financière, mais cette difficulté est de nature financière et organisationnelle, non liée au produit ou au marché. Le plan de cession permet d'acquérir la valeur stratégique en payant un prix d'actif, le passif étant laissé à la procédure. C'est le ressort central du dossier.</a:t>
            </a:r>
          </a:p>
        </p:txBody>
      </p:sp>
      <p:graphicFrame>
        <p:nvGraphicFramePr>
          <p:cNvPr id="5" name="Table 4"/>
          <p:cNvGraphicFramePr>
            <a:graphicFrameLocks noGrp="1"/>
          </p:cNvGraphicFramePr>
          <p:nvPr/>
        </p:nvGraphicFramePr>
        <p:xfrm>
          <a:off x="731520" y="2286000"/>
          <a:ext cx="10698480" cy="1828800"/>
        </p:xfrm>
        <a:graphic>
          <a:graphicData uri="http://schemas.openxmlformats.org/drawingml/2006/table">
            <a:tbl>
              <a:tblPr firstRow="1" bandRow="1">
                <a:tableStyleId>{5C22544A-7EE6-4342-B048-85BDC9FD1C3A}</a:tableStyleId>
              </a:tblPr>
              <a:tblGrid>
                <a:gridCol w="4279392"/>
                <a:gridCol w="6419088"/>
              </a:tblGrid>
              <a:tr h="365760">
                <a:tc>
                  <a:txBody>
                    <a:bodyPr/>
                    <a:lstStyle/>
                    <a:p>
                      <a:pPr>
                        <a:defRPr sz="1100" b="1">
                          <a:solidFill>
                            <a:srgbClr val="000000"/>
                          </a:solidFill>
                          <a:latin typeface="CMU Serif"/>
                        </a:defRPr>
                      </a:pPr>
                      <a:r>
                        <a:t>Actif</a:t>
                      </a:r>
                    </a:p>
                  </a:txBody>
                  <a:tcPr>
                    <a:lnT w="19050">
                      <a:solidFill>
                        <a:srgbClr val="000000"/>
                      </a:solidFill>
                    </a:lnT>
                    <a:lnB w="9525">
                      <a:solidFill>
                        <a:srgbClr val="000000"/>
                      </a:solidFill>
                    </a:lnB>
                  </a:tcPr>
                </a:tc>
                <a:tc>
                  <a:txBody>
                    <a:bodyPr/>
                    <a:lstStyle/>
                    <a:p>
                      <a:pPr>
                        <a:defRPr sz="1100" b="1">
                          <a:solidFill>
                            <a:srgbClr val="000000"/>
                          </a:solidFill>
                          <a:latin typeface="CMU Serif"/>
                        </a:defRPr>
                      </a:pPr>
                      <a:r>
                        <a:t>Pourquoi il a de la valeur</a:t>
                      </a:r>
                    </a:p>
                  </a:txBody>
                  <a:tcPr>
                    <a:lnT w="19050">
                      <a:solidFill>
                        <a:srgbClr val="000000"/>
                      </a:solidFill>
                    </a:lnT>
                    <a:lnB w="9525">
                      <a:solidFill>
                        <a:srgbClr val="000000"/>
                      </a:solidFill>
                    </a:lnB>
                  </a:tcPr>
                </a:tc>
              </a:tr>
              <a:tr h="365760">
                <a:tc>
                  <a:txBody>
                    <a:bodyPr/>
                    <a:lstStyle/>
                    <a:p>
                      <a:pPr>
                        <a:defRPr sz="1100" b="0">
                          <a:solidFill>
                            <a:srgbClr val="000000"/>
                          </a:solidFill>
                          <a:latin typeface="CMU Serif"/>
                        </a:defRPr>
                      </a:pPr>
                      <a:r>
                        <a:t>Agrément de facturation électronique</a:t>
                      </a:r>
                    </a:p>
                  </a:txBody>
                  <a:tcPr/>
                </a:tc>
                <a:tc>
                  <a:txBody>
                    <a:bodyPr/>
                    <a:lstStyle/>
                    <a:p>
                      <a:pPr>
                        <a:defRPr sz="1100" b="0">
                          <a:solidFill>
                            <a:srgbClr val="000000"/>
                          </a:solidFill>
                          <a:latin typeface="CMU Serif"/>
                        </a:defRPr>
                      </a:pPr>
                      <a:r>
                        <a:t>Droit d'entrée rare sur un marché réglementaire, barrière de plusieurs mois</a:t>
                      </a:r>
                    </a:p>
                  </a:txBody>
                  <a:tcPr/>
                </a:tc>
              </a:tr>
              <a:tr h="365760">
                <a:tc>
                  <a:txBody>
                    <a:bodyPr/>
                    <a:lstStyle/>
                    <a:p>
                      <a:pPr>
                        <a:defRPr sz="1100" b="0">
                          <a:solidFill>
                            <a:srgbClr val="000000"/>
                          </a:solidFill>
                          <a:latin typeface="CMU Serif"/>
                        </a:defRPr>
                      </a:pPr>
                      <a:r>
                        <a:t>Base installée ~ 3 000 clients</a:t>
                      </a:r>
                    </a:p>
                  </a:txBody>
                  <a:tcPr/>
                </a:tc>
                <a:tc>
                  <a:txBody>
                    <a:bodyPr/>
                    <a:lstStyle/>
                    <a:p>
                      <a:pPr>
                        <a:defRPr sz="1100" b="0">
                          <a:solidFill>
                            <a:srgbClr val="000000"/>
                          </a:solidFill>
                          <a:latin typeface="CMU Serif"/>
                        </a:defRPr>
                      </a:pPr>
                      <a:r>
                        <a:t>Revenu récurrent (abonnements cloud), socle prévisible</a:t>
                      </a:r>
                    </a:p>
                  </a:txBody>
                  <a:tcPr/>
                </a:tc>
              </a:tr>
              <a:tr h="365760">
                <a:tc>
                  <a:txBody>
                    <a:bodyPr/>
                    <a:lstStyle/>
                    <a:p>
                      <a:pPr>
                        <a:defRPr sz="1100" b="0">
                          <a:solidFill>
                            <a:srgbClr val="000000"/>
                          </a:solidFill>
                          <a:latin typeface="CMU Serif"/>
                        </a:defRPr>
                      </a:pPr>
                      <a:r>
                        <a:t>Réseau ~ 60 partenaires</a:t>
                      </a:r>
                    </a:p>
                  </a:txBody>
                  <a:tcPr/>
                </a:tc>
                <a:tc>
                  <a:txBody>
                    <a:bodyPr/>
                    <a:lstStyle/>
                    <a:p>
                      <a:pPr>
                        <a:defRPr sz="1100" b="0">
                          <a:solidFill>
                            <a:srgbClr val="000000"/>
                          </a:solidFill>
                          <a:latin typeface="CMU Serif"/>
                        </a:defRPr>
                      </a:pPr>
                      <a:r>
                        <a:t>Canal de distribution indirect, impossible à reconstituer rapidement</a:t>
                      </a:r>
                    </a:p>
                  </a:txBody>
                  <a:tcPr/>
                </a:tc>
              </a:tr>
              <a:tr h="365760">
                <a:tc>
                  <a:txBody>
                    <a:bodyPr/>
                    <a:lstStyle/>
                    <a:p>
                      <a:pPr>
                        <a:defRPr sz="1100" b="0">
                          <a:solidFill>
                            <a:srgbClr val="000000"/>
                          </a:solidFill>
                          <a:latin typeface="CMU Serif"/>
                        </a:defRPr>
                      </a:pPr>
                      <a:r>
                        <a:t>Plateforme technique et brique IA</a:t>
                      </a:r>
                    </a:p>
                  </a:txBody>
                  <a:tcPr>
                    <a:lnB w="19050">
                      <a:solidFill>
                        <a:srgbClr val="000000"/>
                      </a:solidFill>
                    </a:lnB>
                  </a:tcPr>
                </a:tc>
                <a:tc>
                  <a:txBody>
                    <a:bodyPr/>
                    <a:lstStyle/>
                    <a:p>
                      <a:pPr>
                        <a:defRPr sz="1100" b="0">
                          <a:solidFill>
                            <a:srgbClr val="000000"/>
                          </a:solidFill>
                          <a:latin typeface="CMU Serif"/>
                        </a:defRPr>
                      </a:pPr>
                      <a:r>
                        <a:t>Suite logicielle mature, cloud/on-premise, filiale IA documentaire</a:t>
                      </a:r>
                    </a:p>
                  </a:txBody>
                  <a:tcPr>
                    <a:lnB w="19050">
                      <a:solidFill>
                        <a:srgbClr val="000000"/>
                      </a:solidFill>
                    </a:lnB>
                  </a:tcPr>
                </a:tc>
              </a:tr>
            </a:tbl>
          </a:graphicData>
        </a:graphic>
      </p:graphicFrame>
      <p:sp>
        <p:nvSpPr>
          <p:cNvPr id="6" name="TextBox 5"/>
          <p:cNvSpPr txBox="1"/>
          <p:nvPr/>
        </p:nvSpPr>
        <p:spPr>
          <a:xfrm>
            <a:off x="731520" y="4297680"/>
            <a:ext cx="10698480" cy="914400"/>
          </a:xfrm>
          <a:prstGeom prst="rect">
            <a:avLst/>
          </a:prstGeom>
          <a:noFill/>
        </p:spPr>
        <p:txBody>
          <a:bodyPr wrap="square">
            <a:spAutoFit/>
          </a:bodyPr>
          <a:lstStyle/>
          <a:p>
            <a:pPr algn="l">
              <a:lnSpc>
                <a:spcPts val="1620"/>
              </a:lnSpc>
              <a:spcBef>
                <a:spcPts val="0"/>
              </a:spcBef>
              <a:spcAft>
                <a:spcPts val="0"/>
              </a:spcAft>
              <a:defRPr sz="1200" b="0" i="0">
                <a:solidFill>
                  <a:srgbClr val="000000"/>
                </a:solidFill>
                <a:latin typeface="CMU Serif"/>
              </a:defRPr>
            </a:pPr>
            <a:r>
              <a:t>Le repreneur n'achète ni le passif (apuré par la procédure) ni la structure de coûts existante. Il reprend les actifs et les contrats utiles, et reconstruit dès le premier jour une organisation calibrée sur son projet. C'est une liberté que n'offre pas un rachat de titres classique.</a:t>
            </a:r>
          </a:p>
        </p:txBody>
      </p:sp>
      <p:sp>
        <p:nvSpPr>
          <p:cNvPr id="7" name="Rectangle 6"/>
          <p:cNvSpPr/>
          <p:nvPr/>
        </p:nvSpPr>
        <p:spPr>
          <a:xfrm>
            <a:off x="731520" y="6217920"/>
            <a:ext cx="10332720" cy="63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09360"/>
            <a:ext cx="10698480" cy="365760"/>
          </a:xfrm>
          <a:prstGeom prst="rect">
            <a:avLst/>
          </a:prstGeom>
          <a:noFill/>
        </p:spPr>
        <p:txBody>
          <a:bodyPr wrap="square">
            <a:spAutoFit/>
          </a:bodyPr>
          <a:lstStyle/>
          <a:p>
            <a:pPr algn="ctr">
              <a:lnSpc>
                <a:spcPts val="1215"/>
              </a:lnSpc>
              <a:spcBef>
                <a:spcPts val="0"/>
              </a:spcBef>
              <a:spcAft>
                <a:spcPts val="0"/>
              </a:spcAft>
              <a:defRPr sz="900" b="0" i="1">
                <a:solidFill>
                  <a:srgbClr val="555555"/>
                </a:solidFill>
                <a:latin typeface="CMU Serif"/>
              </a:defRPr>
            </a:pPr>
            <a:r>
              <a:t>Confidentiel — Brantham Partners — paul.roulleau@branthampartners.fr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698480" cy="548640"/>
          </a:xfrm>
          <a:prstGeom prst="rect">
            <a:avLst/>
          </a:prstGeom>
          <a:noFill/>
        </p:spPr>
        <p:txBody>
          <a:bodyPr wrap="square">
            <a:spAutoFit/>
          </a:bodyPr>
          <a:lstStyle/>
          <a:p>
            <a:pPr algn="l">
              <a:lnSpc>
                <a:spcPts val="2970"/>
              </a:lnSpc>
              <a:spcBef>
                <a:spcPts val="0"/>
              </a:spcBef>
              <a:spcAft>
                <a:spcPts val="0"/>
              </a:spcAft>
              <a:defRPr sz="2200" b="1" i="0">
                <a:solidFill>
                  <a:srgbClr val="000000"/>
                </a:solidFill>
                <a:latin typeface="CMU Serif"/>
              </a:defRPr>
            </a:pPr>
            <a:r>
              <a:t>3. Leviers de création de valeur</a:t>
            </a:r>
          </a:p>
        </p:txBody>
      </p:sp>
      <p:sp>
        <p:nvSpPr>
          <p:cNvPr id="3" name="Rectangle 2"/>
          <p:cNvSpPr/>
          <p:nvPr/>
        </p:nvSpPr>
        <p:spPr>
          <a:xfrm>
            <a:off x="731520" y="1005840"/>
            <a:ext cx="10332720" cy="63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371600"/>
          <a:ext cx="10698479" cy="2560320"/>
        </p:xfrm>
        <a:graphic>
          <a:graphicData uri="http://schemas.openxmlformats.org/drawingml/2006/table">
            <a:tbl>
              <a:tblPr firstRow="1" bandRow="1">
                <a:tableStyleId>{5C22544A-7EE6-4342-B048-85BDC9FD1C3A}</a:tableStyleId>
              </a:tblPr>
              <a:tblGrid>
                <a:gridCol w="3744467"/>
                <a:gridCol w="6954012"/>
              </a:tblGrid>
              <a:tr h="365760">
                <a:tc>
                  <a:txBody>
                    <a:bodyPr/>
                    <a:lstStyle/>
                    <a:p>
                      <a:pPr>
                        <a:defRPr sz="1100" b="1">
                          <a:solidFill>
                            <a:srgbClr val="000000"/>
                          </a:solidFill>
                          <a:latin typeface="CMU Serif"/>
                        </a:defRPr>
                      </a:pPr>
                      <a:r>
                        <a:t>Levier</a:t>
                      </a:r>
                    </a:p>
                  </a:txBody>
                  <a:tcPr>
                    <a:lnT w="19050">
                      <a:solidFill>
                        <a:srgbClr val="000000"/>
                      </a:solidFill>
                    </a:lnT>
                    <a:lnB w="9525">
                      <a:solidFill>
                        <a:srgbClr val="000000"/>
                      </a:solidFill>
                    </a:lnB>
                  </a:tcPr>
                </a:tc>
                <a:tc>
                  <a:txBody>
                    <a:bodyPr/>
                    <a:lstStyle/>
                    <a:p>
                      <a:pPr>
                        <a:defRPr sz="1100" b="1">
                          <a:solidFill>
                            <a:srgbClr val="000000"/>
                          </a:solidFill>
                          <a:latin typeface="CMU Serif"/>
                        </a:defRPr>
                      </a:pPr>
                      <a:r>
                        <a:t>Mécanique</a:t>
                      </a:r>
                    </a:p>
                  </a:txBody>
                  <a:tcPr>
                    <a:lnT w="19050">
                      <a:solidFill>
                        <a:srgbClr val="000000"/>
                      </a:solidFill>
                    </a:lnT>
                    <a:lnB w="9525">
                      <a:solidFill>
                        <a:srgbClr val="000000"/>
                      </a:solidFill>
                    </a:lnB>
                  </a:tcPr>
                </a:tc>
              </a:tr>
              <a:tr h="365760">
                <a:tc>
                  <a:txBody>
                    <a:bodyPr/>
                    <a:lstStyle/>
                    <a:p>
                      <a:pPr>
                        <a:defRPr sz="1100" b="0">
                          <a:solidFill>
                            <a:srgbClr val="000000"/>
                          </a:solidFill>
                          <a:latin typeface="CMU Serif"/>
                        </a:defRPr>
                      </a:pPr>
                      <a:r>
                        <a:t>Recalibrage du périmètre</a:t>
                      </a:r>
                    </a:p>
                  </a:txBody>
                  <a:tcPr/>
                </a:tc>
                <a:tc>
                  <a:txBody>
                    <a:bodyPr/>
                    <a:lstStyle/>
                    <a:p>
                      <a:pPr>
                        <a:defRPr sz="1100" b="0">
                          <a:solidFill>
                            <a:srgbClr val="000000"/>
                          </a:solidFill>
                          <a:latin typeface="CMU Serif"/>
                        </a:defRPr>
                      </a:pPr>
                      <a:r>
                        <a:t>Reprise d'une structure alignée sur le volume d'activité réel</a:t>
                      </a:r>
                    </a:p>
                  </a:txBody>
                  <a:tcPr/>
                </a:tc>
              </a:tr>
              <a:tr h="365760">
                <a:tc>
                  <a:txBody>
                    <a:bodyPr/>
                    <a:lstStyle/>
                    <a:p>
                      <a:pPr>
                        <a:defRPr sz="1100" b="0">
                          <a:solidFill>
                            <a:srgbClr val="000000"/>
                          </a:solidFill>
                          <a:latin typeface="CMU Serif"/>
                        </a:defRPr>
                      </a:pPr>
                      <a:r>
                        <a:t>Assainissement du bilan</a:t>
                      </a:r>
                    </a:p>
                  </a:txBody>
                  <a:tcPr/>
                </a:tc>
                <a:tc>
                  <a:txBody>
                    <a:bodyPr/>
                    <a:lstStyle/>
                    <a:p>
                      <a:pPr>
                        <a:defRPr sz="1100" b="0">
                          <a:solidFill>
                            <a:srgbClr val="000000"/>
                          </a:solidFill>
                          <a:latin typeface="CMU Serif"/>
                        </a:defRPr>
                      </a:pPr>
                      <a:r>
                        <a:t>Disparition du passif et des charges financières</a:t>
                      </a:r>
                    </a:p>
                  </a:txBody>
                  <a:tcPr/>
                </a:tc>
              </a:tr>
              <a:tr h="365760">
                <a:tc>
                  <a:txBody>
                    <a:bodyPr/>
                    <a:lstStyle/>
                    <a:p>
                      <a:pPr>
                        <a:defRPr sz="1100" b="0">
                          <a:solidFill>
                            <a:srgbClr val="000000"/>
                          </a:solidFill>
                          <a:latin typeface="CMU Serif"/>
                        </a:defRPr>
                      </a:pPr>
                      <a:r>
                        <a:t>Monétisation de l'agrément</a:t>
                      </a:r>
                    </a:p>
                  </a:txBody>
                  <a:tcPr/>
                </a:tc>
                <a:tc>
                  <a:txBody>
                    <a:bodyPr/>
                    <a:lstStyle/>
                    <a:p>
                      <a:pPr>
                        <a:defRPr sz="1100" b="0">
                          <a:solidFill>
                            <a:srgbClr val="000000"/>
                          </a:solidFill>
                          <a:latin typeface="CMU Serif"/>
                        </a:defRPr>
                      </a:pPr>
                      <a:r>
                        <a:t>Conversion de la base installée en clients e-facture obligatoire</a:t>
                      </a:r>
                    </a:p>
                  </a:txBody>
                  <a:tcPr/>
                </a:tc>
              </a:tr>
              <a:tr h="365760">
                <a:tc>
                  <a:txBody>
                    <a:bodyPr/>
                    <a:lstStyle/>
                    <a:p>
                      <a:pPr>
                        <a:defRPr sz="1100" b="0">
                          <a:solidFill>
                            <a:srgbClr val="000000"/>
                          </a:solidFill>
                          <a:latin typeface="CMU Serif"/>
                        </a:defRPr>
                      </a:pPr>
                      <a:r>
                        <a:t>Vente croisée</a:t>
                      </a:r>
                    </a:p>
                  </a:txBody>
                  <a:tcPr/>
                </a:tc>
                <a:tc>
                  <a:txBody>
                    <a:bodyPr/>
                    <a:lstStyle/>
                    <a:p>
                      <a:pPr>
                        <a:defRPr sz="1100" b="0">
                          <a:solidFill>
                            <a:srgbClr val="000000"/>
                          </a:solidFill>
                          <a:latin typeface="CMU Serif"/>
                        </a:defRPr>
                      </a:pPr>
                      <a:r>
                        <a:t>Activation de la base sur modules et services à plus forte marge</a:t>
                      </a:r>
                    </a:p>
                  </a:txBody>
                  <a:tcPr/>
                </a:tc>
              </a:tr>
              <a:tr h="365760">
                <a:tc>
                  <a:txBody>
                    <a:bodyPr/>
                    <a:lstStyle/>
                    <a:p>
                      <a:pPr>
                        <a:defRPr sz="1100" b="0">
                          <a:solidFill>
                            <a:srgbClr val="000000"/>
                          </a:solidFill>
                          <a:latin typeface="CMU Serif"/>
                        </a:defRPr>
                      </a:pPr>
                      <a:r>
                        <a:t>Réactivation du canal partenaires</a:t>
                      </a:r>
                    </a:p>
                  </a:txBody>
                  <a:tcPr/>
                </a:tc>
                <a:tc>
                  <a:txBody>
                    <a:bodyPr/>
                    <a:lstStyle/>
                    <a:p>
                      <a:pPr>
                        <a:defRPr sz="1100" b="0">
                          <a:solidFill>
                            <a:srgbClr val="000000"/>
                          </a:solidFill>
                          <a:latin typeface="CMU Serif"/>
                        </a:defRPr>
                      </a:pPr>
                      <a:r>
                        <a:t>Redéploiement commercial via le réseau de distributeurs</a:t>
                      </a:r>
                    </a:p>
                  </a:txBody>
                  <a:tcPr/>
                </a:tc>
              </a:tr>
              <a:tr h="365760">
                <a:tc>
                  <a:txBody>
                    <a:bodyPr/>
                    <a:lstStyle/>
                    <a:p>
                      <a:pPr>
                        <a:defRPr sz="1100" b="0">
                          <a:solidFill>
                            <a:srgbClr val="000000"/>
                          </a:solidFill>
                          <a:latin typeface="CMU Serif"/>
                        </a:defRPr>
                      </a:pPr>
                      <a:r>
                        <a:t>Synergies d'un acquéreur industriel</a:t>
                      </a:r>
                    </a:p>
                  </a:txBody>
                  <a:tcPr>
                    <a:lnB w="19050">
                      <a:solidFill>
                        <a:srgbClr val="000000"/>
                      </a:solidFill>
                    </a:lnB>
                  </a:tcPr>
                </a:tc>
                <a:tc>
                  <a:txBody>
                    <a:bodyPr/>
                    <a:lstStyle/>
                    <a:p>
                      <a:pPr>
                        <a:defRPr sz="1100" b="0">
                          <a:solidFill>
                            <a:srgbClr val="000000"/>
                          </a:solidFill>
                          <a:latin typeface="CMU Serif"/>
                        </a:defRPr>
                      </a:pPr>
                      <a:r>
                        <a:t>Mutualisation des fonctions support et croisement des portefeuilles</a:t>
                      </a:r>
                    </a:p>
                  </a:txBody>
                  <a:tcPr>
                    <a:lnB w="19050">
                      <a:solidFill>
                        <a:srgbClr val="000000"/>
                      </a:solidFill>
                    </a:lnB>
                  </a:tcPr>
                </a:tc>
              </a:tr>
            </a:tbl>
          </a:graphicData>
        </a:graphic>
      </p:graphicFrame>
      <p:sp>
        <p:nvSpPr>
          <p:cNvPr id="5" name="Rectangle 4"/>
          <p:cNvSpPr/>
          <p:nvPr/>
        </p:nvSpPr>
        <p:spPr>
          <a:xfrm>
            <a:off x="731520" y="6217920"/>
            <a:ext cx="10332720" cy="63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698480" cy="365760"/>
          </a:xfrm>
          <a:prstGeom prst="rect">
            <a:avLst/>
          </a:prstGeom>
          <a:noFill/>
        </p:spPr>
        <p:txBody>
          <a:bodyPr wrap="square">
            <a:spAutoFit/>
          </a:bodyPr>
          <a:lstStyle/>
          <a:p>
            <a:pPr algn="ctr">
              <a:lnSpc>
                <a:spcPts val="1215"/>
              </a:lnSpc>
              <a:spcBef>
                <a:spcPts val="0"/>
              </a:spcBef>
              <a:spcAft>
                <a:spcPts val="0"/>
              </a:spcAft>
              <a:defRPr sz="900" b="0" i="1">
                <a:solidFill>
                  <a:srgbClr val="555555"/>
                </a:solidFill>
                <a:latin typeface="CMU Serif"/>
              </a:defRPr>
            </a:pPr>
            <a:r>
              <a:t>Confidentiel — Brantham Partners — paul.roulleau@branthampartners.fr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698480" cy="548640"/>
          </a:xfrm>
          <a:prstGeom prst="rect">
            <a:avLst/>
          </a:prstGeom>
          <a:noFill/>
        </p:spPr>
        <p:txBody>
          <a:bodyPr wrap="square">
            <a:spAutoFit/>
          </a:bodyPr>
          <a:lstStyle/>
          <a:p>
            <a:pPr algn="l">
              <a:lnSpc>
                <a:spcPts val="2970"/>
              </a:lnSpc>
              <a:spcBef>
                <a:spcPts val="0"/>
              </a:spcBef>
              <a:spcAft>
                <a:spcPts val="0"/>
              </a:spcAft>
              <a:defRPr sz="2200" b="1" i="0">
                <a:solidFill>
                  <a:srgbClr val="000000"/>
                </a:solidFill>
                <a:latin typeface="CMU Serif"/>
              </a:defRPr>
            </a:pPr>
            <a:r>
              <a:t>4. Scénarios de reprise</a:t>
            </a:r>
          </a:p>
        </p:txBody>
      </p:sp>
      <p:sp>
        <p:nvSpPr>
          <p:cNvPr id="3" name="Rectangle 2"/>
          <p:cNvSpPr/>
          <p:nvPr/>
        </p:nvSpPr>
        <p:spPr>
          <a:xfrm>
            <a:off x="731520" y="1005840"/>
            <a:ext cx="10332720" cy="63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698480" cy="548640"/>
          </a:xfrm>
          <a:prstGeom prst="rect">
            <a:avLst/>
          </a:prstGeom>
          <a:noFill/>
        </p:spPr>
        <p:txBody>
          <a:bodyPr wrap="square">
            <a:spAutoFit/>
          </a:bodyPr>
          <a:lstStyle/>
          <a:p>
            <a:pPr algn="l">
              <a:lnSpc>
                <a:spcPts val="1485"/>
              </a:lnSpc>
              <a:spcBef>
                <a:spcPts val="0"/>
              </a:spcBef>
              <a:spcAft>
                <a:spcPts val="0"/>
              </a:spcAft>
              <a:defRPr sz="1100" b="0" i="1">
                <a:solidFill>
                  <a:srgbClr val="555555"/>
                </a:solidFill>
                <a:latin typeface="CMU Serif"/>
              </a:defRPr>
            </a:pPr>
            <a:r>
              <a:t>Trois trajectoires-types. Les chiffrages détaillés figurent dans notre modèle, restitué au repreneur.</a:t>
            </a:r>
          </a:p>
        </p:txBody>
      </p:sp>
      <p:sp>
        <p:nvSpPr>
          <p:cNvPr id="5" name="TextBox 4"/>
          <p:cNvSpPr txBox="1"/>
          <p:nvPr/>
        </p:nvSpPr>
        <p:spPr>
          <a:xfrm>
            <a:off x="731520" y="2011680"/>
            <a:ext cx="10698480" cy="320040"/>
          </a:xfrm>
          <a:prstGeom prst="rect">
            <a:avLst/>
          </a:prstGeom>
          <a:noFill/>
        </p:spPr>
        <p:txBody>
          <a:bodyPr wrap="square">
            <a:spAutoFit/>
          </a:bodyPr>
          <a:lstStyle/>
          <a:p>
            <a:pPr algn="l">
              <a:lnSpc>
                <a:spcPts val="1890"/>
              </a:lnSpc>
              <a:spcBef>
                <a:spcPts val="0"/>
              </a:spcBef>
              <a:spcAft>
                <a:spcPts val="0"/>
              </a:spcAft>
              <a:defRPr sz="1400" b="1" i="0">
                <a:solidFill>
                  <a:srgbClr val="000000"/>
                </a:solidFill>
                <a:latin typeface="CMU Serif"/>
              </a:defRPr>
            </a:pPr>
            <a:r>
              <a:t>Scénario A — Reprise autonome et redressement opérationnel</a:t>
            </a:r>
          </a:p>
        </p:txBody>
      </p:sp>
      <p:sp>
        <p:nvSpPr>
          <p:cNvPr id="6" name="TextBox 5"/>
          <p:cNvSpPr txBox="1"/>
          <p:nvPr/>
        </p:nvSpPr>
        <p:spPr>
          <a:xfrm>
            <a:off x="914400" y="2423160"/>
            <a:ext cx="10515600" cy="914400"/>
          </a:xfrm>
          <a:prstGeom prst="rect">
            <a:avLst/>
          </a:prstGeom>
          <a:noFill/>
        </p:spPr>
        <p:txBody>
          <a:bodyPr wrap="square">
            <a:spAutoFit/>
          </a:bodyPr>
          <a:lstStyle/>
          <a:p>
            <a:pPr algn="l">
              <a:lnSpc>
                <a:spcPts val="1620"/>
              </a:lnSpc>
              <a:spcBef>
                <a:spcPts val="0"/>
              </a:spcBef>
              <a:spcAft>
                <a:spcPts val="0"/>
              </a:spcAft>
              <a:defRPr sz="1200" b="0" i="0">
                <a:solidFill>
                  <a:srgbClr val="000000"/>
                </a:solidFill>
                <a:latin typeface="CMU Serif"/>
              </a:defRPr>
            </a:pPr>
            <a:r>
              <a:t>Pour un repreneur indépendant. La société est reprise sur un périmètre resserré, recentrée sur sa base de clients récurrents et son agrément. La rentabilité se reconstruit par la discipline de coûts et l'assainissement du bilan. La croissance vient ensuite, portée par la facture électronique.</a:t>
            </a:r>
          </a:p>
        </p:txBody>
      </p:sp>
      <p:sp>
        <p:nvSpPr>
          <p:cNvPr id="7" name="TextBox 6"/>
          <p:cNvSpPr txBox="1"/>
          <p:nvPr/>
        </p:nvSpPr>
        <p:spPr>
          <a:xfrm>
            <a:off x="731520" y="3474720"/>
            <a:ext cx="10698480" cy="320040"/>
          </a:xfrm>
          <a:prstGeom prst="rect">
            <a:avLst/>
          </a:prstGeom>
          <a:noFill/>
        </p:spPr>
        <p:txBody>
          <a:bodyPr wrap="square">
            <a:spAutoFit/>
          </a:bodyPr>
          <a:lstStyle/>
          <a:p>
            <a:pPr algn="l">
              <a:lnSpc>
                <a:spcPts val="1890"/>
              </a:lnSpc>
              <a:spcBef>
                <a:spcPts val="0"/>
              </a:spcBef>
              <a:spcAft>
                <a:spcPts val="0"/>
              </a:spcAft>
              <a:defRPr sz="1400" b="1" i="0">
                <a:solidFill>
                  <a:srgbClr val="000000"/>
                </a:solidFill>
                <a:latin typeface="CMU Serif"/>
              </a:defRPr>
            </a:pPr>
            <a:r>
              <a:t>Scénario B — Reprise industrielle par un acteur du secteur</a:t>
            </a:r>
          </a:p>
        </p:txBody>
      </p:sp>
      <p:sp>
        <p:nvSpPr>
          <p:cNvPr id="8" name="TextBox 7"/>
          <p:cNvSpPr txBox="1"/>
          <p:nvPr/>
        </p:nvSpPr>
        <p:spPr>
          <a:xfrm>
            <a:off x="914400" y="3886200"/>
            <a:ext cx="10515600" cy="914400"/>
          </a:xfrm>
          <a:prstGeom prst="rect">
            <a:avLst/>
          </a:prstGeom>
          <a:noFill/>
        </p:spPr>
        <p:txBody>
          <a:bodyPr wrap="square">
            <a:spAutoFit/>
          </a:bodyPr>
          <a:lstStyle/>
          <a:p>
            <a:pPr algn="l">
              <a:lnSpc>
                <a:spcPts val="1620"/>
              </a:lnSpc>
              <a:spcBef>
                <a:spcPts val="0"/>
              </a:spcBef>
              <a:spcAft>
                <a:spcPts val="0"/>
              </a:spcAft>
              <a:defRPr sz="1200" b="0" i="0">
                <a:solidFill>
                  <a:srgbClr val="000000"/>
                </a:solidFill>
                <a:latin typeface="CMU Serif"/>
              </a:defRPr>
            </a:pPr>
            <a:r>
              <a:t>Pour un acteur déjà établi sur la dématérialisation ou la facture électronique. La cible est un accélérateur. La base de 3 000 clients est immédiatement adressable. Le back-office et l'infrastructure se mutualisent. Les synergies rapprochent le point d'équilibre dès l'intégration.</a:t>
            </a:r>
          </a:p>
        </p:txBody>
      </p:sp>
      <p:sp>
        <p:nvSpPr>
          <p:cNvPr id="9" name="TextBox 8"/>
          <p:cNvSpPr txBox="1"/>
          <p:nvPr/>
        </p:nvSpPr>
        <p:spPr>
          <a:xfrm>
            <a:off x="731520" y="4937760"/>
            <a:ext cx="10698480" cy="320040"/>
          </a:xfrm>
          <a:prstGeom prst="rect">
            <a:avLst/>
          </a:prstGeom>
          <a:noFill/>
        </p:spPr>
        <p:txBody>
          <a:bodyPr wrap="square">
            <a:spAutoFit/>
          </a:bodyPr>
          <a:lstStyle/>
          <a:p>
            <a:pPr algn="l">
              <a:lnSpc>
                <a:spcPts val="1890"/>
              </a:lnSpc>
              <a:spcBef>
                <a:spcPts val="0"/>
              </a:spcBef>
              <a:spcAft>
                <a:spcPts val="0"/>
              </a:spcAft>
              <a:defRPr sz="1400" b="1" i="0">
                <a:solidFill>
                  <a:srgbClr val="000000"/>
                </a:solidFill>
                <a:latin typeface="CMU Serif"/>
              </a:defRPr>
            </a:pPr>
            <a:r>
              <a:t>Scénario C — Reprise plateforme et consolidation</a:t>
            </a:r>
          </a:p>
        </p:txBody>
      </p:sp>
      <p:sp>
        <p:nvSpPr>
          <p:cNvPr id="10" name="TextBox 9"/>
          <p:cNvSpPr txBox="1"/>
          <p:nvPr/>
        </p:nvSpPr>
        <p:spPr>
          <a:xfrm>
            <a:off x="914400" y="5349240"/>
            <a:ext cx="10515600" cy="731520"/>
          </a:xfrm>
          <a:prstGeom prst="rect">
            <a:avLst/>
          </a:prstGeom>
          <a:noFill/>
        </p:spPr>
        <p:txBody>
          <a:bodyPr wrap="square">
            <a:spAutoFit/>
          </a:bodyPr>
          <a:lstStyle/>
          <a:p>
            <a:pPr algn="l">
              <a:lnSpc>
                <a:spcPts val="1620"/>
              </a:lnSpc>
              <a:spcBef>
                <a:spcPts val="0"/>
              </a:spcBef>
              <a:spcAft>
                <a:spcPts val="0"/>
              </a:spcAft>
              <a:defRPr sz="1200" b="0" i="0">
                <a:solidFill>
                  <a:srgbClr val="000000"/>
                </a:solidFill>
                <a:latin typeface="CMU Serif"/>
              </a:defRPr>
            </a:pPr>
            <a:r>
              <a:t>Reprise élargie aux activités voisines de dématérialisation et d'IA documentaire. Constitution d'une plateforme intégrée couvrant GED, dématérialisation, facture électronique et IA. Effet d'échelle immédiat.</a:t>
            </a:r>
          </a:p>
        </p:txBody>
      </p:sp>
      <p:sp>
        <p:nvSpPr>
          <p:cNvPr id="11" name="Rectangle 10"/>
          <p:cNvSpPr/>
          <p:nvPr/>
        </p:nvSpPr>
        <p:spPr>
          <a:xfrm>
            <a:off x="731520" y="6217920"/>
            <a:ext cx="10332720" cy="63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309360"/>
            <a:ext cx="10698480" cy="365760"/>
          </a:xfrm>
          <a:prstGeom prst="rect">
            <a:avLst/>
          </a:prstGeom>
          <a:noFill/>
        </p:spPr>
        <p:txBody>
          <a:bodyPr wrap="square">
            <a:spAutoFit/>
          </a:bodyPr>
          <a:lstStyle/>
          <a:p>
            <a:pPr algn="ctr">
              <a:lnSpc>
                <a:spcPts val="1215"/>
              </a:lnSpc>
              <a:spcBef>
                <a:spcPts val="0"/>
              </a:spcBef>
              <a:spcAft>
                <a:spcPts val="0"/>
              </a:spcAft>
              <a:defRPr sz="900" b="0" i="1">
                <a:solidFill>
                  <a:srgbClr val="555555"/>
                </a:solidFill>
                <a:latin typeface="CMU Serif"/>
              </a:defRPr>
            </a:pPr>
            <a:r>
              <a:t>Confidentiel — Brantham Partners — paul.roulleau@branthampartners.fr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698480" cy="548640"/>
          </a:xfrm>
          <a:prstGeom prst="rect">
            <a:avLst/>
          </a:prstGeom>
          <a:noFill/>
        </p:spPr>
        <p:txBody>
          <a:bodyPr wrap="square">
            <a:spAutoFit/>
          </a:bodyPr>
          <a:lstStyle/>
          <a:p>
            <a:pPr algn="l">
              <a:lnSpc>
                <a:spcPts val="2970"/>
              </a:lnSpc>
              <a:spcBef>
                <a:spcPts val="0"/>
              </a:spcBef>
              <a:spcAft>
                <a:spcPts val="0"/>
              </a:spcAft>
              <a:defRPr sz="2200" b="1" i="0">
                <a:solidFill>
                  <a:srgbClr val="000000"/>
                </a:solidFill>
                <a:latin typeface="CMU Serif"/>
              </a:defRPr>
            </a:pPr>
            <a:r>
              <a:t>5. Points de vigilance identifiés</a:t>
            </a:r>
          </a:p>
        </p:txBody>
      </p:sp>
      <p:sp>
        <p:nvSpPr>
          <p:cNvPr id="3" name="Rectangle 2"/>
          <p:cNvSpPr/>
          <p:nvPr/>
        </p:nvSpPr>
        <p:spPr>
          <a:xfrm>
            <a:off x="731520" y="1005840"/>
            <a:ext cx="10332720" cy="63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731520"/>
          </a:xfrm>
          <a:prstGeom prst="rect">
            <a:avLst/>
          </a:prstGeom>
          <a:noFill/>
        </p:spPr>
        <p:txBody>
          <a:bodyPr wrap="square">
            <a:spAutoFit/>
          </a:bodyPr>
          <a:lstStyle/>
          <a:p>
            <a:pPr algn="l">
              <a:lnSpc>
                <a:spcPts val="1755"/>
              </a:lnSpc>
              <a:spcBef>
                <a:spcPts val="0"/>
              </a:spcBef>
              <a:spcAft>
                <a:spcPts val="0"/>
              </a:spcAft>
              <a:defRPr sz="1300" b="1" i="0">
                <a:solidFill>
                  <a:srgbClr val="000000"/>
                </a:solidFill>
                <a:latin typeface="CMU Serif"/>
              </a:defRPr>
            </a:pPr>
            <a:r>
              <a:t>Propriété intellectuelle.</a:t>
            </a:r>
          </a:p>
          <a:p>
            <a:pPr algn="l">
              <a:spcBef>
                <a:spcPts val="200"/>
              </a:spcBef>
              <a:spcAft>
                <a:spcPts val="0"/>
              </a:spcAft>
              <a:defRPr sz="1200" b="0" i="0">
                <a:solidFill>
                  <a:srgbClr val="000000"/>
                </a:solidFill>
                <a:latin typeface="CMU Serif"/>
              </a:defRPr>
            </a:pPr>
            <a:r>
              <a:t>La structure de détention du logiciel et de la marque appelle une vérification précise et une sécurisation préalable au dépôt de l'offre.</a:t>
            </a:r>
          </a:p>
        </p:txBody>
      </p:sp>
      <p:sp>
        <p:nvSpPr>
          <p:cNvPr id="5" name="TextBox 4"/>
          <p:cNvSpPr txBox="1"/>
          <p:nvPr/>
        </p:nvSpPr>
        <p:spPr>
          <a:xfrm>
            <a:off x="731520" y="2377440"/>
            <a:ext cx="10698480" cy="731520"/>
          </a:xfrm>
          <a:prstGeom prst="rect">
            <a:avLst/>
          </a:prstGeom>
          <a:noFill/>
        </p:spPr>
        <p:txBody>
          <a:bodyPr wrap="square">
            <a:spAutoFit/>
          </a:bodyPr>
          <a:lstStyle/>
          <a:p>
            <a:pPr algn="l">
              <a:lnSpc>
                <a:spcPts val="1755"/>
              </a:lnSpc>
              <a:spcBef>
                <a:spcPts val="0"/>
              </a:spcBef>
              <a:spcAft>
                <a:spcPts val="0"/>
              </a:spcAft>
              <a:defRPr sz="1300" b="1" i="0">
                <a:solidFill>
                  <a:srgbClr val="000000"/>
                </a:solidFill>
                <a:latin typeface="CMU Serif"/>
              </a:defRPr>
            </a:pPr>
            <a:r>
              <a:t>Contrats critiques.</a:t>
            </a:r>
          </a:p>
          <a:p>
            <a:pPr algn="l">
              <a:spcBef>
                <a:spcPts val="200"/>
              </a:spcBef>
              <a:spcAft>
                <a:spcPts val="0"/>
              </a:spcAft>
              <a:defRPr sz="1200" b="0" i="0">
                <a:solidFill>
                  <a:srgbClr val="000000"/>
                </a:solidFill>
                <a:latin typeface="CMU Serif"/>
              </a:defRPr>
            </a:pPr>
            <a:r>
              <a:t>Certains contrats sont indispensables à la continuité d'exploitation et doivent être sécurisés dans le cadre de l'offre.</a:t>
            </a:r>
          </a:p>
        </p:txBody>
      </p:sp>
      <p:sp>
        <p:nvSpPr>
          <p:cNvPr id="6" name="TextBox 5"/>
          <p:cNvSpPr txBox="1"/>
          <p:nvPr/>
        </p:nvSpPr>
        <p:spPr>
          <a:xfrm>
            <a:off x="731520" y="3383280"/>
            <a:ext cx="10698480" cy="731520"/>
          </a:xfrm>
          <a:prstGeom prst="rect">
            <a:avLst/>
          </a:prstGeom>
          <a:noFill/>
        </p:spPr>
        <p:txBody>
          <a:bodyPr wrap="square">
            <a:spAutoFit/>
          </a:bodyPr>
          <a:lstStyle/>
          <a:p>
            <a:pPr algn="l">
              <a:lnSpc>
                <a:spcPts val="1755"/>
              </a:lnSpc>
              <a:spcBef>
                <a:spcPts val="0"/>
              </a:spcBef>
              <a:spcAft>
                <a:spcPts val="0"/>
              </a:spcAft>
              <a:defRPr sz="1300" b="1" i="0">
                <a:solidFill>
                  <a:srgbClr val="000000"/>
                </a:solidFill>
                <a:latin typeface="CMU Serif"/>
              </a:defRPr>
            </a:pPr>
            <a:r>
              <a:t>Périmètre social et calendrier.</a:t>
            </a:r>
          </a:p>
          <a:p>
            <a:pPr algn="l">
              <a:spcBef>
                <a:spcPts val="200"/>
              </a:spcBef>
              <a:spcAft>
                <a:spcPts val="0"/>
              </a:spcAft>
              <a:defRPr sz="1200" b="0" i="0">
                <a:solidFill>
                  <a:srgbClr val="000000"/>
                </a:solidFill>
                <a:latin typeface="CMU Serif"/>
              </a:defRPr>
            </a:pPr>
            <a:r>
              <a:t>La définition du périmètre repris et la tenue du calendrier de la procédure sont des paramètres clés de la réussite.</a:t>
            </a:r>
          </a:p>
        </p:txBody>
      </p:sp>
      <p:sp>
        <p:nvSpPr>
          <p:cNvPr id="7" name="TextBox 6"/>
          <p:cNvSpPr txBox="1"/>
          <p:nvPr/>
        </p:nvSpPr>
        <p:spPr>
          <a:xfrm>
            <a:off x="731520" y="4480560"/>
            <a:ext cx="10698480" cy="914400"/>
          </a:xfrm>
          <a:prstGeom prst="rect">
            <a:avLst/>
          </a:prstGeom>
          <a:noFill/>
        </p:spPr>
        <p:txBody>
          <a:bodyPr wrap="square">
            <a:spAutoFit/>
          </a:bodyPr>
          <a:lstStyle/>
          <a:p>
            <a:pPr algn="l">
              <a:lnSpc>
                <a:spcPts val="1620"/>
              </a:lnSpc>
              <a:spcBef>
                <a:spcPts val="0"/>
              </a:spcBef>
              <a:spcAft>
                <a:spcPts val="0"/>
              </a:spcAft>
              <a:defRPr sz="1200" b="0" i="0">
                <a:solidFill>
                  <a:srgbClr val="000000"/>
                </a:solidFill>
                <a:latin typeface="CMU Serif"/>
              </a:defRPr>
            </a:pPr>
            <a:r>
              <a:t>Identifier ces points, les chiffrer et les sécuriser est ce qui sépare une offre retenue d'une offre rejetée, et une reprise solide d'une reprise qui se fragilise après le closing.</a:t>
            </a:r>
          </a:p>
        </p:txBody>
      </p:sp>
      <p:sp>
        <p:nvSpPr>
          <p:cNvPr id="8" name="Rectangle 7"/>
          <p:cNvSpPr/>
          <p:nvPr/>
        </p:nvSpPr>
        <p:spPr>
          <a:xfrm>
            <a:off x="731520" y="6217920"/>
            <a:ext cx="10332720" cy="63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309360"/>
            <a:ext cx="10698480" cy="365760"/>
          </a:xfrm>
          <a:prstGeom prst="rect">
            <a:avLst/>
          </a:prstGeom>
          <a:noFill/>
        </p:spPr>
        <p:txBody>
          <a:bodyPr wrap="square">
            <a:spAutoFit/>
          </a:bodyPr>
          <a:lstStyle/>
          <a:p>
            <a:pPr algn="ctr">
              <a:lnSpc>
                <a:spcPts val="1215"/>
              </a:lnSpc>
              <a:spcBef>
                <a:spcPts val="0"/>
              </a:spcBef>
              <a:spcAft>
                <a:spcPts val="0"/>
              </a:spcAft>
              <a:defRPr sz="900" b="0" i="1">
                <a:solidFill>
                  <a:srgbClr val="555555"/>
                </a:solidFill>
                <a:latin typeface="CMU Serif"/>
              </a:defRPr>
            </a:pPr>
            <a:r>
              <a:t>Confidentiel — Brantham Partners — paul.roulleau@branthampartners.fr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10698480" cy="548640"/>
          </a:xfrm>
          <a:prstGeom prst="rect">
            <a:avLst/>
          </a:prstGeom>
          <a:noFill/>
        </p:spPr>
        <p:txBody>
          <a:bodyPr wrap="square">
            <a:spAutoFit/>
          </a:bodyPr>
          <a:lstStyle/>
          <a:p>
            <a:pPr algn="l">
              <a:lnSpc>
                <a:spcPts val="2970"/>
              </a:lnSpc>
              <a:spcBef>
                <a:spcPts val="0"/>
              </a:spcBef>
              <a:spcAft>
                <a:spcPts val="0"/>
              </a:spcAft>
              <a:defRPr sz="2200" b="1" i="0">
                <a:solidFill>
                  <a:srgbClr val="000000"/>
                </a:solidFill>
                <a:latin typeface="CMU Serif"/>
              </a:defRPr>
            </a:pPr>
            <a:r>
              <a:t>6. Ce que Brantham Partners a réalisé et apporte</a:t>
            </a:r>
          </a:p>
        </p:txBody>
      </p:sp>
      <p:sp>
        <p:nvSpPr>
          <p:cNvPr id="3" name="Rectangle 2"/>
          <p:cNvSpPr/>
          <p:nvPr/>
        </p:nvSpPr>
        <p:spPr>
          <a:xfrm>
            <a:off x="731520" y="1005840"/>
            <a:ext cx="10332720" cy="63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0515600" cy="320040"/>
          </a:xfrm>
          <a:prstGeom prst="rect">
            <a:avLst/>
          </a:prstGeom>
          <a:noFill/>
        </p:spPr>
        <p:txBody>
          <a:bodyPr wrap="square">
            <a:spAutoFit/>
          </a:bodyPr>
          <a:lstStyle/>
          <a:p>
            <a:pPr algn="l">
              <a:lnSpc>
                <a:spcPts val="1620"/>
              </a:lnSpc>
              <a:spcBef>
                <a:spcPts val="0"/>
              </a:spcBef>
              <a:spcAft>
                <a:spcPts val="0"/>
              </a:spcAft>
              <a:defRPr sz="1200" b="0" i="0">
                <a:solidFill>
                  <a:srgbClr val="000000"/>
                </a:solidFill>
                <a:latin typeface="CMU Serif"/>
              </a:defRPr>
            </a:pPr>
            <a:r>
              <a:t>—  Analyse exhaustive de la data room (&gt; 130 documents : comptable, contractuel, juridique, social).</a:t>
            </a:r>
          </a:p>
        </p:txBody>
      </p:sp>
      <p:sp>
        <p:nvSpPr>
          <p:cNvPr id="5" name="TextBox 4"/>
          <p:cNvSpPr txBox="1"/>
          <p:nvPr/>
        </p:nvSpPr>
        <p:spPr>
          <a:xfrm>
            <a:off x="914400" y="1783080"/>
            <a:ext cx="10515600" cy="320040"/>
          </a:xfrm>
          <a:prstGeom prst="rect">
            <a:avLst/>
          </a:prstGeom>
          <a:noFill/>
        </p:spPr>
        <p:txBody>
          <a:bodyPr wrap="square">
            <a:spAutoFit/>
          </a:bodyPr>
          <a:lstStyle/>
          <a:p>
            <a:pPr algn="l">
              <a:lnSpc>
                <a:spcPts val="1620"/>
              </a:lnSpc>
              <a:spcBef>
                <a:spcPts val="0"/>
              </a:spcBef>
              <a:spcAft>
                <a:spcPts val="0"/>
              </a:spcAft>
              <a:defRPr sz="1200" b="0" i="0">
                <a:solidFill>
                  <a:srgbClr val="000000"/>
                </a:solidFill>
                <a:latin typeface="CMU Serif"/>
              </a:defRPr>
            </a:pPr>
            <a:r>
              <a:t>—  Reconstruction du modèle économique réel et retraité de la cible, au-delà des comptes publiés.</a:t>
            </a:r>
          </a:p>
        </p:txBody>
      </p:sp>
      <p:sp>
        <p:nvSpPr>
          <p:cNvPr id="6" name="TextBox 5"/>
          <p:cNvSpPr txBox="1"/>
          <p:nvPr/>
        </p:nvSpPr>
        <p:spPr>
          <a:xfrm>
            <a:off x="914400" y="2194560"/>
            <a:ext cx="10515600" cy="320040"/>
          </a:xfrm>
          <a:prstGeom prst="rect">
            <a:avLst/>
          </a:prstGeom>
          <a:noFill/>
        </p:spPr>
        <p:txBody>
          <a:bodyPr wrap="square">
            <a:spAutoFit/>
          </a:bodyPr>
          <a:lstStyle/>
          <a:p>
            <a:pPr algn="l">
              <a:lnSpc>
                <a:spcPts val="1620"/>
              </a:lnSpc>
              <a:spcBef>
                <a:spcPts val="0"/>
              </a:spcBef>
              <a:spcAft>
                <a:spcPts val="0"/>
              </a:spcAft>
              <a:defRPr sz="1200" b="0" i="0">
                <a:solidFill>
                  <a:srgbClr val="000000"/>
                </a:solidFill>
                <a:latin typeface="CMU Serif"/>
              </a:defRPr>
            </a:pPr>
            <a:r>
              <a:t>—  Modélisation des scénarios de reprise et du périmètre viable, chiffrés.</a:t>
            </a:r>
          </a:p>
        </p:txBody>
      </p:sp>
      <p:sp>
        <p:nvSpPr>
          <p:cNvPr id="7" name="TextBox 6"/>
          <p:cNvSpPr txBox="1"/>
          <p:nvPr/>
        </p:nvSpPr>
        <p:spPr>
          <a:xfrm>
            <a:off x="914400" y="2606040"/>
            <a:ext cx="10515600" cy="320040"/>
          </a:xfrm>
          <a:prstGeom prst="rect">
            <a:avLst/>
          </a:prstGeom>
          <a:noFill/>
        </p:spPr>
        <p:txBody>
          <a:bodyPr wrap="square">
            <a:spAutoFit/>
          </a:bodyPr>
          <a:lstStyle/>
          <a:p>
            <a:pPr algn="l">
              <a:lnSpc>
                <a:spcPts val="1620"/>
              </a:lnSpc>
              <a:spcBef>
                <a:spcPts val="0"/>
              </a:spcBef>
              <a:spcAft>
                <a:spcPts val="0"/>
              </a:spcAft>
              <a:defRPr sz="1200" b="0" i="0">
                <a:solidFill>
                  <a:srgbClr val="000000"/>
                </a:solidFill>
                <a:latin typeface="CMU Serif"/>
              </a:defRPr>
            </a:pPr>
            <a:r>
              <a:t>—  Identification et plan de sécurisation des points de vigilance.</a:t>
            </a:r>
          </a:p>
        </p:txBody>
      </p:sp>
      <p:sp>
        <p:nvSpPr>
          <p:cNvPr id="8" name="TextBox 7"/>
          <p:cNvSpPr txBox="1"/>
          <p:nvPr/>
        </p:nvSpPr>
        <p:spPr>
          <a:xfrm>
            <a:off x="731520" y="3200400"/>
            <a:ext cx="10698480" cy="914400"/>
          </a:xfrm>
          <a:prstGeom prst="rect">
            <a:avLst/>
          </a:prstGeom>
          <a:noFill/>
        </p:spPr>
        <p:txBody>
          <a:bodyPr wrap="square">
            <a:spAutoFit/>
          </a:bodyPr>
          <a:lstStyle/>
          <a:p>
            <a:pPr algn="l">
              <a:lnSpc>
                <a:spcPts val="1620"/>
              </a:lnSpc>
              <a:spcBef>
                <a:spcPts val="0"/>
              </a:spcBef>
              <a:spcAft>
                <a:spcPts val="0"/>
              </a:spcAft>
              <a:defRPr sz="1200" b="0" i="0">
                <a:solidFill>
                  <a:srgbClr val="000000"/>
                </a:solidFill>
                <a:latin typeface="CMU Serif"/>
              </a:defRPr>
            </a:pPr>
            <a:r>
              <a:t>Brantham Partners accompagne ensuite le repreneur de bout en bout : restitution de l'analyse, construction du périmètre et de l'offre, dépôt auprès des organes de la procédure, accompagnement à l'audience et suivi post-cession. Notre rémunération est alignée sur la réussite de l'opération.</a:t>
            </a:r>
          </a:p>
        </p:txBody>
      </p:sp>
      <p:sp>
        <p:nvSpPr>
          <p:cNvPr id="9" name="Rectangle 8"/>
          <p:cNvSpPr/>
          <p:nvPr/>
        </p:nvSpPr>
        <p:spPr>
          <a:xfrm>
            <a:off x="731520" y="4480560"/>
            <a:ext cx="10332720" cy="63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663440"/>
            <a:ext cx="10698480" cy="320040"/>
          </a:xfrm>
          <a:prstGeom prst="rect">
            <a:avLst/>
          </a:prstGeom>
          <a:noFill/>
        </p:spPr>
        <p:txBody>
          <a:bodyPr wrap="square">
            <a:spAutoFit/>
          </a:bodyPr>
          <a:lstStyle/>
          <a:p>
            <a:pPr algn="l">
              <a:lnSpc>
                <a:spcPts val="1890"/>
              </a:lnSpc>
              <a:spcBef>
                <a:spcPts val="0"/>
              </a:spcBef>
              <a:spcAft>
                <a:spcPts val="0"/>
              </a:spcAft>
              <a:defRPr sz="1400" b="1" i="0">
                <a:solidFill>
                  <a:srgbClr val="000000"/>
                </a:solidFill>
                <a:latin typeface="CMU Serif"/>
              </a:defRPr>
            </a:pPr>
            <a:r>
              <a:t>Prochaine étape</a:t>
            </a:r>
          </a:p>
        </p:txBody>
      </p:sp>
      <p:sp>
        <p:nvSpPr>
          <p:cNvPr id="11" name="TextBox 10"/>
          <p:cNvSpPr txBox="1"/>
          <p:nvPr/>
        </p:nvSpPr>
        <p:spPr>
          <a:xfrm>
            <a:off x="914400" y="5074920"/>
            <a:ext cx="10515600" cy="914400"/>
          </a:xfrm>
          <a:prstGeom prst="rect">
            <a:avLst/>
          </a:prstGeom>
          <a:noFill/>
        </p:spPr>
        <p:txBody>
          <a:bodyPr wrap="square">
            <a:spAutoFit/>
          </a:bodyPr>
          <a:lstStyle/>
          <a:p>
            <a:pPr algn="l">
              <a:lnSpc>
                <a:spcPts val="1620"/>
              </a:lnSpc>
              <a:spcBef>
                <a:spcPts val="0"/>
              </a:spcBef>
              <a:spcAft>
                <a:spcPts val="0"/>
              </a:spcAft>
              <a:defRPr sz="1200" b="0" i="0">
                <a:solidFill>
                  <a:srgbClr val="000000"/>
                </a:solidFill>
                <a:latin typeface="CMU Serif"/>
              </a:defRPr>
            </a:pPr>
            <a:r>
              <a:t>Restitution détaillée de notre analyse à brève échéance. Le calendrier de la procédure est resserré : la date limite de dépôt des offres est proche. Un positionnement rapide est la condition d'une offre crédible.</a:t>
            </a:r>
          </a:p>
        </p:txBody>
      </p:sp>
      <p:sp>
        <p:nvSpPr>
          <p:cNvPr id="12" name="Rectangle 11"/>
          <p:cNvSpPr/>
          <p:nvPr/>
        </p:nvSpPr>
        <p:spPr>
          <a:xfrm>
            <a:off x="731520" y="6217920"/>
            <a:ext cx="10332720" cy="63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09360"/>
            <a:ext cx="10698480" cy="365760"/>
          </a:xfrm>
          <a:prstGeom prst="rect">
            <a:avLst/>
          </a:prstGeom>
          <a:noFill/>
        </p:spPr>
        <p:txBody>
          <a:bodyPr wrap="square">
            <a:spAutoFit/>
          </a:bodyPr>
          <a:lstStyle/>
          <a:p>
            <a:pPr algn="ctr">
              <a:lnSpc>
                <a:spcPts val="1215"/>
              </a:lnSpc>
              <a:spcBef>
                <a:spcPts val="0"/>
              </a:spcBef>
              <a:spcAft>
                <a:spcPts val="0"/>
              </a:spcAft>
              <a:defRPr sz="900" b="0" i="1">
                <a:solidFill>
                  <a:srgbClr val="555555"/>
                </a:solidFill>
                <a:latin typeface="CMU Serif"/>
              </a:defRPr>
            </a:pPr>
            <a:r>
              <a:t>Confidentiel — Brantham Partners — paul.roulleau@branthampartners.fr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
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0000"/>
                </a:solidFill>
                <a:latin typeface="CMU Serif"/>
              </a:defRPr>
            </a:pPr>
            <a:r>
              <a:t>Titre du document</a:t>
            </a:r>
          </a:p>
          <a:p>
            <a:pPr algn="ctr">
              <a:lnSpc>
                <a:spcPts val="1839"/>
              </a:lnSpc>
              <a:spcBef>
                <a:spcPts val="800"/>
              </a:spcBef>
              <a:spcAft>
                <a:spcPts val="0"/>
              </a:spcAft>
              <a:defRPr sz="1600" b="0" i="0">
                <a:solidFill>
                  <a:srgbClr val="333333"/>
                </a:solidFill>
                <a:latin typeface="CMU Serif"/>
              </a:defRPr>
            </a:pPr>
            <a:r>
              <a:t>Sous-titre ou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3474720"/>
            <a:ext cx="48463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MU Serif"/>
              </a:defRPr>
            </a:pPr>
            <a:r>
              <a:t>Brantham Partners — Conseil M&amp;A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2976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09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MU Serif"/>
              </a:defRPr>
            </a:pPr>
            <a:r>
              <a:t>2026-05-20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264"/>
              </a:lnSpc>
              <a:spcBef>
                <a:spcPts val="0"/>
              </a:spcBef>
              <a:spcAft>
                <a:spcPts val="0"/>
              </a:spcAft>
              <a:defRPr sz="1100" b="0" i="1">
                <a:solidFill>
                  <a:srgbClr val="666666"/>
                </a:solidFill>
                <a:latin typeface="CMU Serif"/>
              </a:defRPr>
            </a:pPr>
            <a:r>
              <a:t>Document confidentiel — Ne pas diffuser sans autorisation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0" y="2743200"/>
            <a:ext cx="85039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0" i="0">
                <a:solidFill>
                  <a:srgbClr val="333333"/>
                </a:solidFill>
                <a:latin typeface="CMU Serif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19"/>
              </a:lnSpc>
              <a:spcBef>
                <a:spcPts val="0"/>
              </a:spcBef>
              <a:spcAft>
                <a:spcPts val="0"/>
              </a:spcAft>
              <a:defRPr sz="2800" b="1" i="0">
                <a:solidFill>
                  <a:srgbClr val="000000"/>
                </a:solidFill>
                <a:latin typeface="CMU Serif"/>
              </a:defRPr>
            </a:pPr>
            <a:r>
              <a:t>Contexte de l'opération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66666"/>
                </a:solidFill>
                <a:latin typeface="CMU Serif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CMU Serif"/>
              </a:defRPr>
            </a:pPr>
            <a:r>
              <a:t>Synthèse de l'opportunité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Un éditeur français de logiciel de gestion documentaire, 22 ans d'existence, ~3 000 clients.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Plan de cession ouvert — reprise par acquisition d'actifs, sans le passif.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CMU Serif"/>
              </a:defRPr>
            </a:pPr>
            <a:r>
              <a:t>Indicateurs clés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8346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Chiffre d'affaires : ~9 M€, dont ~85 % de revenu récurrent.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461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Agrément plateforme de facturation électronique obtenu en 2026.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Base installée : 3 000 clients actifs, réseau de 60 partenaires.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39"/>
              </a:lnSpc>
              <a:spcBef>
                <a:spcPts val="0"/>
              </a:spcBef>
              <a:spcAft>
                <a:spcPts val="0"/>
              </a:spcAft>
              <a:defRPr sz="1600" b="1" i="0">
                <a:solidFill>
                  <a:srgbClr val="000000"/>
                </a:solidFill>
                <a:latin typeface="CMU Serif"/>
              </a:defRPr>
            </a:pPr>
            <a:r>
              <a:t>Fenêtre stratégique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5262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La généralisation de la e-facture crée une demande captive.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37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L'agrément est un droit d'entrée rare sur un marché en formation.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66666"/>
                </a:solidFill>
                <a:latin typeface="CMU Serif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CMU Serif"/>
              </a:defRPr>
            </a:pPr>
            <a:r>
              <a:t>Actifs repris vs. Passif laissé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Actifs incorporels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Agrément facture électronique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Base 3 000 clients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Réseau 60 partenaires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Plateforme technique + IA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Contrats de travail repris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60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Passif antérieur non repris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Dettes fournisseurs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Dettes fiscales et sociales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Charges financières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Contentieux antérieurs</a:t>
            </a:r>
          </a:p>
          <a:p>
            <a:pPr>
              <a:spcAft>
                <a:spcPts val="600"/>
              </a:spcAft>
              <a:defRPr sz="1300">
                <a:solidFill>
                  <a:srgbClr val="333333"/>
                </a:solidFill>
                <a:latin typeface="CMU Serif"/>
              </a:defRPr>
            </a:pPr>
            <a:r>
              <a:t>Passif apuré par la procédure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66666"/>
                </a:solidFill>
                <a:latin typeface="CMU Serif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CMU Serif"/>
              </a:defRPr>
            </a:pPr>
            <a:r>
              <a:t>Scénarios de reprise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554480"/>
          <a:ext cx="103327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4305300"/>
                <a:gridCol w="344424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CMU Serif"/>
                        </a:defRPr>
                      </a:pPr>
                      <a:r>
                        <a:t>Scénario</a:t>
                      </a:r>
                    </a:p>
                  </a:txBody>
                  <a:tcPr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CMU Serif"/>
                        </a:defRPr>
                      </a:pPr>
                      <a:r>
                        <a:t>Logique</a:t>
                      </a:r>
                    </a:p>
                  </a:txBody>
                  <a:tcPr>
                    <a:lnB w="12700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CMU Serif"/>
                        </a:defRPr>
                      </a:pPr>
                      <a:r>
                        <a:t>Profil</a:t>
                      </a:r>
                    </a:p>
                  </a:txBody>
                  <a:tcPr>
                    <a:lnB w="12700">
                      <a:solidFill>
                        <a:srgbClr val="000000"/>
                      </a:solidFill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A — Autonome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Redressement opérationnel 18-24 mois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Entrepreneur, ticket maîtrisé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B — Industriel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Synergies + vente croisée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Acteur du secteur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C — Plateforme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Consolidation + effet d'échelle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Bef>
                          <a:spcPts val="200"/>
                        </a:spcBef>
                        <a:spcAft>
                          <a:spcPts val="200"/>
                        </a:spcAft>
                        <a:defRPr sz="1100">
                          <a:solidFill>
                            <a:srgbClr val="333333"/>
                          </a:solidFill>
                          <a:latin typeface="CMU Serif"/>
                        </a:defRPr>
                      </a:pPr>
                      <a:r>
                        <a:t>Fonds ou groupe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66666"/>
                </a:solidFill>
                <a:latin typeface="CMU Serif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529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000000"/>
                </a:solidFill>
                <a:latin typeface="CMU Serif"/>
              </a:defRPr>
            </a:pPr>
            <a:r>
              <a:t>Prochaines étapes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188720"/>
            <a:ext cx="1127729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1. Restitution détaillée de l'analyse avec le repreneur.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659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2. Transmission des éléments nominatifs du dossier sous NDA.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3. Construction et calibrage de l'offre avec nos équipes.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4. Dépôt de l'offre auprès des organes de la procédure.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5. Accompagnement jusqu'à l'audience et au closing.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79476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Le calendrier de la procédure est resserré.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206240"/>
            <a:ext cx="101498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95"/>
              </a:lnSpc>
              <a:spcBef>
                <a:spcPts val="0"/>
              </a:spcBef>
              <a:spcAft>
                <a:spcPts val="0"/>
              </a:spcAft>
              <a:defRPr sz="1300" b="0" i="0">
                <a:solidFill>
                  <a:srgbClr val="333333"/>
                </a:solidFill>
                <a:latin typeface="CMU Serif"/>
              </a:defRPr>
            </a:pPr>
            <a:r>
              <a:t>Un positionnement rapide est la condition d'une offre crédible.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666666"/>
                </a:solidFill>
                <a:latin typeface="CMU Serif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0" y="2286000"/>
            <a:ext cx="4846320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760"/>
              </a:lnSpc>
              <a:spcBef>
                <a:spcPts val="0"/>
              </a:spcBef>
              <a:spcAft>
                <a:spcPts val="0"/>
              </a:spcAft>
              <a:defRPr sz="2400" b="1" i="0">
                <a:solidFill>
                  <a:srgbClr val="000000"/>
                </a:solidFill>
                <a:latin typeface="CMU Serif"/>
              </a:defRPr>
            </a:pPr>
            <a:r>
              <a:t>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defRPr sz="1800" b="1" i="0">
                <a:solidFill>
                  <a:srgbClr val="000000"/>
                </a:solidFill>
                <a:latin typeface="CMU Serif"/>
              </a:defRPr>
            </a:pPr>
            <a:r>
              <a:t>Paul ROULLEAU</a:t>
            </a:r>
          </a:p>
          <a:p>
            <a:pPr algn="ctr">
              <a:lnSpc>
                <a:spcPts val="1609"/>
              </a:lnSpc>
              <a:spcBef>
                <a:spcPts val="40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MU Serif"/>
              </a:defRPr>
            </a:pPr>
            <a:r>
              <a:t>Brantham Partners</a:t>
            </a:r>
          </a:p>
          <a:p>
            <a:pPr algn="ctr">
              <a:lnSpc>
                <a:spcPts val="1609"/>
              </a:lnSpc>
              <a:spcBef>
                <a:spcPts val="20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MU Serif"/>
              </a:defRPr>
            </a:pPr>
            <a:r>
              <a:t>paul.roulleau@branthampartners.fr</a:t>
            </a:r>
          </a:p>
          <a:p>
            <a:pPr algn="ctr">
              <a:lnSpc>
                <a:spcPts val="1609"/>
              </a:lnSpc>
              <a:spcBef>
                <a:spcPts val="20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CMU Serif"/>
              </a:defRPr>
            </a:pPr>
            <a:r>
              <a:t>07 68 36 25 63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50"/>
              </a:lnSpc>
              <a:spcBef>
                <a:spcPts val="0"/>
              </a:spcBef>
              <a:spcAft>
                <a:spcPts val="0"/>
              </a:spcAft>
              <a:defRPr sz="1000" b="0" i="1">
                <a:solidFill>
                  <a:srgbClr val="666666"/>
                </a:solidFill>
                <a:latin typeface="CMU Serif"/>
              </a:defRPr>
            </a:pPr>
            <a:r>
              <a:t>Document confidentiel — Ne pas diffuser sans autorisation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